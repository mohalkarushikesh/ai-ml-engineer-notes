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Lst>
  <p:sldSz cy="5143500" cx="9144000"/>
  <p:notesSz cx="6858000" cy="9144000"/>
  <p:embeddedFontLst>
    <p:embeddedFont>
      <p:font typeface="Roboto"/>
      <p:regular r:id="rId128"/>
      <p:bold r:id="rId129"/>
      <p:italic r:id="rId130"/>
      <p:boldItalic r:id="rId1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font" Target="fonts/Roboto-bold.fntdata"/><Relationship Id="rId128" Type="http://schemas.openxmlformats.org/officeDocument/2006/relationships/font" Target="fonts/Roboto-regular.fntdata"/><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1" Type="http://schemas.openxmlformats.org/officeDocument/2006/relationships/font" Target="fonts/Roboto-boldItalic.fntdata"/><Relationship Id="rId130" Type="http://schemas.openxmlformats.org/officeDocument/2006/relationships/font" Target="fonts/Roboto-italic.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see.umbc.edu/courses/471/papers/turing.pdf" TargetMode="External"/><Relationship Id="rId3" Type="http://schemas.openxmlformats.org/officeDocument/2006/relationships/hyperlink" Target="https://www.csee.umbc.edu/courses/471/papers/turing.pdf" TargetMode="External"/><Relationship Id="rId4" Type="http://schemas.openxmlformats.org/officeDocument/2006/relationships/hyperlink" Target="https://www.csee.umbc.edu/courses/471/papers/turing.pdf"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analytics-vidhya/activation-functions-in-neural-network-55d1afb5397a"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owardsdatascience.com/calculating-gradient-descent-manually-6d9bee09aa0b"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b678dc31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b678dc31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b678dc319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b678dc319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b678dc319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b678dc319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b678dc319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b678dc319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b678dc319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b678dc319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b678dc319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b678dc319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b678dc319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b678dc319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678dc319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678dc319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Microsoft Word - </a:t>
            </a:r>
            <a:r>
              <a:rPr lang="en-GB" u="sng">
                <a:solidFill>
                  <a:schemeClr val="hlink"/>
                </a:solidFill>
                <a:hlinkClick r:id="rId3"/>
              </a:rPr>
              <a:t>Turing Test</a:t>
            </a:r>
            <a:r>
              <a:rPr lang="en-GB" u="sng">
                <a:solidFill>
                  <a:schemeClr val="hlink"/>
                </a:solidFill>
                <a:hlinkClick r:id="rId4"/>
              </a:rPr>
              <a:t>.doc (umbc.edu)</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b678dc319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b678dc319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678dc319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b678dc319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b678dc319d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b678dc319d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b678dc319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b678dc319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678dc319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678dc319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b678dc319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b678dc319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678dc319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678dc319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678dc319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678dc319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b678dc319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b678dc319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b678dc319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b678dc319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678dc319d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678dc319d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678dc319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678dc319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e08b1d85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e08b1d85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e08b1d858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e08b1d858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e08b1d858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e08b1d858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08b1d858a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e08b1d858a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b678dc319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b678dc319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b678dc319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b678dc319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678dc319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678dc319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b678dc319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b678dc319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b678dc319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b678dc319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b678dc319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b678dc319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678dc319d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b678dc319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b678dc319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b678dc319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b678dc319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b678dc319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678dc319d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678dc319d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678dc319d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678dc319d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b678dc319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b678dc319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b678dc319d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b678dc319d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b678dc319d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b678dc319d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dd324bae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dd324bae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dd324baea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dd324bae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dd324baea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dd324baea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Activation Functions In Neural Network | by Gaurav Rajpal | Analytics Vidhya | Medium</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dd324baea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dd324baea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dd324baea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dd324baea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dd324baea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dd324baea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dd324baea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dd324baea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dd324baea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dd324baea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dd324baea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dd324baea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dd324baea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dd324baea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dd324baea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dd324baea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dd324bae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dd324bae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dd324baea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dd324baea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dd324baea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dd324baea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Calculating Gradient Descent Manually | by Chi-Feng Wang | Towards Data Science</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dd324bae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dd324bae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dd324baea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dd324baea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dd324baea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dd324baea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dd324baea4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dd324baea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dd324baea4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dd324baea4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dd324baea4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dd324baea4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dd324baea4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dd324baea4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dd324baea4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dd324baea4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dd324baea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dd324baea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dd324baea4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dd324baea4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dd324baea4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dd324baea4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dd324baea4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dd324baea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dd324baea4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dd324baea4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dd324baea4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dd324baea4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dd324baea4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dd324baea4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dd324baea4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dd324baea4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dd324baea4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dd324baea4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dd324baea4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dd324baea4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dd324baea4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dd324baea4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dd324baea4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dd324baea4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dd324baea4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dd324baea4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dd324baea4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dd324baea4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dd324baea4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dd324baea4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dd324baea4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dd324baea4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dd324baea4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dd324baea4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dad65dba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dad65dba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dad65dba0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dad65dba0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dad65dba0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dad65dba0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dad65dba0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dad65dba0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dad65dba0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dad65dba0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dad65dba0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dad65dba0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dad65dba0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dad65dba0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dad65dba0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dad65dba0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dad65dba0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dad65dba0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df020bc8a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df020bc8a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daf8f4cd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daf8f4cd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dad65dba0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dad65dba0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df020bc8a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df020bc8a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df020bc8a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df020bc8a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df020bc8a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df020bc8a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df020bc8a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df020bc8a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df020bc8a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df020bc8a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df020bc8a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df020bc8a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df020bc8a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df020bc8a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df020bc8ac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df020bc8ac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df020bc8ac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df020bc8ac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df020bc8ac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df020bc8ac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df020bc8ac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df020bc8ac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df020bc8ac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df020bc8ac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df020bc8ac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df020bc8ac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df020bc8ac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df020bc8ac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df020bc8ac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df020bc8ac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df020bc8ac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df020bc8ac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df020bc8ac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df020bc8ac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df020bc8ac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df020bc8ac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df020bc8ac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df020bc8ac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df020bc8ac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df020bc8ac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df020bc8ac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df020bc8ac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df020bc8ac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df020bc8ac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df020bc8ac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df020bc8ac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df020bc8ac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df020bc8ac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df020bc8ac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df020bc8ac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df020bc8ac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df020bc8ac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df020bc8ac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df020bc8ac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df020bc8ac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df020bc8ac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df020bc8ac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df020bc8ac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df020bc8ac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df020bc8ac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df020bc8ac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df020bc8ac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df020bc8ac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df020bc8ac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PZQMyj-9z-w" TargetMode="External"/><Relationship Id="rId4"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tlThdr3O5Qo" TargetMode="Externa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fNxaJsNG3-s" TargetMode="Externa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csee.umbc.edu/courses/471/papers/turing.pdf" TargetMode="External"/><Relationship Id="rId4" Type="http://schemas.openxmlformats.org/officeDocument/2006/relationships/hyperlink" Target="https://www.csee.umbc.edu/courses/471/papers/turing.pdf" TargetMode="External"/><Relationship Id="rId5" Type="http://schemas.openxmlformats.org/officeDocument/2006/relationships/hyperlink" Target="https://www.csee.umbc.edu/courses/471/papers/turing.pdf" TargetMode="External"/><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HwF229U2ba8" TargetMode="External"/><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www.youtube.com/watch?v=arjByQlIreE" TargetMode="External"/><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WXuK6gekU1Y" TargetMode="External"/><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youtube.com/watch?v=P18EdAKuC1U" TargetMode="Externa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5.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8.gif"/><Relationship Id="rId4" Type="http://schemas.openxmlformats.org/officeDocument/2006/relationships/image" Target="../media/image15.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0.jpg"/><Relationship Id="rId4" Type="http://schemas.openxmlformats.org/officeDocument/2006/relationships/image" Target="../media/image29.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1.pn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www.youtube.com/watch?v=vMh0zPT0tLI" TargetMode="External"/><Relationship Id="rId4" Type="http://schemas.openxmlformats.org/officeDocument/2006/relationships/image" Target="../media/image28.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6.gi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3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4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3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3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41.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3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hyperlink" Target="https://machinelearningmastery.com/how-to-stop-training-deep-neural-networks-at-the-right-time-using-early-stopping/" TargetMode="External"/><Relationship Id="rId4" Type="http://schemas.openxmlformats.org/officeDocument/2006/relationships/image" Target="../media/image4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4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3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Deep Learning</a:t>
            </a:r>
            <a:r>
              <a:rPr lang="en-GB"/>
              <a:t> Crash Course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By : Vishwas Narayan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Deep Learning</a:t>
            </a:r>
            <a:r>
              <a:rPr lang="en-GB"/>
              <a:t> is </a:t>
            </a:r>
            <a:r>
              <a:rPr lang="en-GB"/>
              <a:t>Everywhere</a:t>
            </a:r>
            <a:endParaRPr/>
          </a:p>
        </p:txBody>
      </p:sp>
      <p:pic>
        <p:nvPicPr>
          <p:cNvPr id="61" name="Google Shape;61;p14"/>
          <p:cNvPicPr preferRelativeResize="0"/>
          <p:nvPr/>
        </p:nvPicPr>
        <p:blipFill>
          <a:blip r:embed="rId3">
            <a:alphaModFix/>
          </a:blip>
          <a:stretch>
            <a:fillRect/>
          </a:stretch>
        </p:blipFill>
        <p:spPr>
          <a:xfrm>
            <a:off x="1475996" y="152400"/>
            <a:ext cx="6496808" cy="5143500"/>
          </a:xfrm>
          <a:prstGeom prst="rect">
            <a:avLst/>
          </a:prstGeom>
          <a:noFill/>
          <a:ln>
            <a:noFill/>
          </a:ln>
        </p:spPr>
      </p:pic>
      <p:pic>
        <p:nvPicPr>
          <p:cNvPr id="62" name="Google Shape;62;p14"/>
          <p:cNvPicPr preferRelativeResize="0"/>
          <p:nvPr/>
        </p:nvPicPr>
        <p:blipFill>
          <a:blip r:embed="rId4">
            <a:alphaModFix/>
          </a:blip>
          <a:stretch>
            <a:fillRect/>
          </a:stretch>
        </p:blipFill>
        <p:spPr>
          <a:xfrm>
            <a:off x="248841" y="248825"/>
            <a:ext cx="8951119"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1000"/>
                                        <p:tgtEl>
                                          <p:spTgt spid="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What does AI mean for the future of health care? Stanford Medicine first began exploring artificial intelligence in medicine in the 1980s; today, we are witnessing a renaissance in AI research. To help make sense of this transformation and separate marketing hype from reality, Dean Lloyd Minor, MD, recently joined colleagues Jeanne Shen, MD, assistant professor of pathology; Matthew Lungren, MD, assistant professor of radiology; and Nigam Shah, PhD, associate professor of biomedical informatics, for a discussion around the impact of AI in health care. The group discussed everything from physician job security to AI’s potential to increase inequality in health care." id="69" name="Google Shape;69;p15" title="The state of artificial intelligence in medicine">
            <a:hlinkClick r:id="rId3"/>
          </p:cNvPr>
          <p:cNvPicPr preferRelativeResize="0"/>
          <p:nvPr/>
        </p:nvPicPr>
        <p:blipFill>
          <a:blip r:embed="rId4">
            <a:alphaModFix/>
          </a:blip>
          <a:stretch>
            <a:fillRect/>
          </a:stretch>
        </p:blipFill>
        <p:spPr>
          <a:xfrm>
            <a:off x="1143000" y="0"/>
            <a:ext cx="6694375" cy="5020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1000"/>
                                        <p:tgtEl>
                                          <p:spTgt spid="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https://ts.la/FSD" id="76" name="Google Shape;76;p16" title="Full Self-Driving">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Welcome to Zero to Hero for Natural Language Processing using TensorFlow! If you’re not an expert on AI or ML, don’t worry -- we’re taking the concepts of NLP and teaching them from first principles with our host Laurence Moroney (@lmoroney).&#10;&#10;In this first lesson we’ll talk about how to represent words in a way that a computer can process them, with a view to later training a neural network to understand their meaning.&#10;&#10;Hands-on Colab → https://goo.gle/2uO6Gee&#10;&#10;NLP Zero to Hero playlist → https://goo.gle/nlp-z2h&#10;Subscribe to the TensorFlow channel → https://goo.gle/TensorFlow" id="83" name="Google Shape;83;p17" title="Natural Language Processing - Tokenization (NLP Zero to Hero - Part 1)">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you should Learn is to </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Build a </a:t>
            </a:r>
            <a:r>
              <a:rPr lang="en-GB"/>
              <a:t>groundbreaking</a:t>
            </a:r>
            <a:r>
              <a:rPr lang="en-GB"/>
              <a:t> </a:t>
            </a:r>
            <a:r>
              <a:rPr lang="en-GB"/>
              <a:t>intelligence</a:t>
            </a:r>
            <a:r>
              <a:rPr lang="en-GB"/>
              <a:t> just </a:t>
            </a:r>
            <a:r>
              <a:rPr lang="en-GB"/>
              <a:t>like</a:t>
            </a:r>
            <a:r>
              <a:rPr lang="en-GB"/>
              <a:t> humans through </a:t>
            </a:r>
            <a:r>
              <a:rPr lang="en-GB"/>
              <a:t>Deep Learning</a:t>
            </a:r>
            <a:endParaRPr/>
          </a:p>
          <a:p>
            <a:pPr indent="-342900" lvl="0" marL="457200" rtl="0" algn="l">
              <a:spcBef>
                <a:spcPts val="0"/>
              </a:spcBef>
              <a:spcAft>
                <a:spcPts val="0"/>
              </a:spcAft>
              <a:buSzPts val="1800"/>
              <a:buChar char="●"/>
            </a:pPr>
            <a:r>
              <a:rPr lang="en-GB"/>
              <a:t>Build Neural </a:t>
            </a:r>
            <a:r>
              <a:rPr lang="en-GB"/>
              <a:t>Network</a:t>
            </a:r>
            <a:r>
              <a:rPr lang="en-GB"/>
              <a:t> with your approach and also make them make some sustainable </a:t>
            </a:r>
            <a:r>
              <a:rPr lang="en-GB"/>
              <a:t>Decision</a:t>
            </a:r>
            <a:endParaRPr/>
          </a:p>
          <a:p>
            <a:pPr indent="-342900" lvl="0" marL="457200" rtl="0" algn="l">
              <a:spcBef>
                <a:spcPts val="0"/>
              </a:spcBef>
              <a:spcAft>
                <a:spcPts val="0"/>
              </a:spcAft>
              <a:buSzPts val="1800"/>
              <a:buChar char="●"/>
            </a:pPr>
            <a:r>
              <a:rPr lang="en-GB"/>
              <a:t>Understand and give your own approach to give a effective </a:t>
            </a:r>
            <a:r>
              <a:rPr lang="en-GB"/>
              <a:t>training</a:t>
            </a:r>
            <a:r>
              <a:rPr lang="en-GB"/>
              <a:t> for the deep </a:t>
            </a:r>
            <a:r>
              <a:rPr lang="en-GB"/>
              <a:t>learning</a:t>
            </a:r>
            <a:r>
              <a:rPr lang="en-GB"/>
              <a:t> model</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Effect filter="fade" transition="in">
                                      <p:cBhvr>
                                        <p:cTn dur="1000"/>
                                        <p:tgtEl>
                                          <p:spTgt spid="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Effect filter="fade" transition="in">
                                      <p:cBhvr>
                                        <p:cTn dur="1000"/>
                                        <p:tgtEl>
                                          <p:spTgt spid="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animEffect filter="fade" transition="in">
                                      <p:cBhvr>
                                        <p:cTn dur="1000"/>
                                        <p:tgtEl>
                                          <p:spTgt spid="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animEffect filter="fade" transition="in">
                                      <p:cBhvr>
                                        <p:cTn dur="1000"/>
                                        <p:tgtEl>
                                          <p:spTgt spid="8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the Difference between the Ai and others</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Like </a:t>
            </a:r>
            <a:endParaRPr/>
          </a:p>
          <a:p>
            <a:pPr indent="-342900" lvl="0" marL="457200" rtl="0" algn="l">
              <a:spcBef>
                <a:spcPts val="1200"/>
              </a:spcBef>
              <a:spcAft>
                <a:spcPts val="0"/>
              </a:spcAft>
              <a:buSzPts val="1800"/>
              <a:buAutoNum type="arabicPeriod"/>
            </a:pPr>
            <a:r>
              <a:rPr lang="en-GB"/>
              <a:t>Deep Learning</a:t>
            </a:r>
            <a:r>
              <a:rPr lang="en-GB"/>
              <a:t> with ML and AI</a:t>
            </a:r>
            <a:endParaRPr/>
          </a:p>
          <a:p>
            <a:pPr indent="-342900" lvl="0" marL="457200" rtl="0" algn="l">
              <a:spcBef>
                <a:spcPts val="0"/>
              </a:spcBef>
              <a:spcAft>
                <a:spcPts val="0"/>
              </a:spcAft>
              <a:buSzPts val="1800"/>
              <a:buAutoNum type="arabicPeriod"/>
            </a:pPr>
            <a:r>
              <a:rPr lang="en-GB"/>
              <a:t>Machine </a:t>
            </a:r>
            <a:r>
              <a:rPr lang="en-GB"/>
              <a:t>Learning</a:t>
            </a:r>
            <a:r>
              <a:rPr lang="en-GB"/>
              <a:t> with AI</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Here never forget somehow you train to get the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animEffect filter="fade" transition="in">
                                      <p:cBhvr>
                                        <p:cTn dur="1000"/>
                                        <p:tgtEl>
                                          <p:spTgt spid="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animEffect filter="fade" transition="in">
                                      <p:cBhvr>
                                        <p:cTn dur="1000"/>
                                        <p:tgtEl>
                                          <p:spTgt spid="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animEffect filter="fade" transition="in">
                                      <p:cBhvr>
                                        <p:cTn dur="1000"/>
                                        <p:tgtEl>
                                          <p:spTgt spid="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animEffect filter="fade" transition="in">
                                      <p:cBhvr>
                                        <p:cTn dur="1000"/>
                                        <p:tgtEl>
                                          <p:spTgt spid="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animEffect filter="fade" transition="in">
                                      <p:cBhvr>
                                        <p:cTn dur="1000"/>
                                        <p:tgtEl>
                                          <p:spTgt spid="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animEffect filter="fade" transition="in">
                                      <p:cBhvr>
                                        <p:cTn dur="1000"/>
                                        <p:tgtEl>
                                          <p:spTgt spid="9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you will learn?</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SzPts val="1800"/>
              <a:buChar char="●"/>
            </a:pPr>
            <a:r>
              <a:rPr lang="en-GB"/>
              <a:t>Loss Function and Optimizers</a:t>
            </a:r>
            <a:endParaRPr/>
          </a:p>
          <a:p>
            <a:pPr indent="-342900" lvl="0" marL="457200" rtl="0" algn="l">
              <a:lnSpc>
                <a:spcPct val="100000"/>
              </a:lnSpc>
              <a:spcBef>
                <a:spcPts val="0"/>
              </a:spcBef>
              <a:spcAft>
                <a:spcPts val="0"/>
              </a:spcAft>
              <a:buSzPts val="1800"/>
              <a:buChar char="●"/>
            </a:pPr>
            <a:r>
              <a:rPr lang="en-GB"/>
              <a:t>Gradient Descent Algorithm</a:t>
            </a:r>
            <a:endParaRPr/>
          </a:p>
          <a:p>
            <a:pPr indent="-342900" lvl="0" marL="457200" rtl="0" algn="l">
              <a:lnSpc>
                <a:spcPct val="100000"/>
              </a:lnSpc>
              <a:spcBef>
                <a:spcPts val="0"/>
              </a:spcBef>
              <a:spcAft>
                <a:spcPts val="0"/>
              </a:spcAft>
              <a:buSzPts val="1800"/>
              <a:buChar char="●"/>
            </a:pPr>
            <a:r>
              <a:rPr lang="en-GB"/>
              <a:t>Neural Network Architecture</a:t>
            </a:r>
            <a:endParaRPr/>
          </a:p>
          <a:p>
            <a:pPr indent="0" lvl="0" marL="0" rtl="0" algn="l">
              <a:lnSpc>
                <a:spcPct val="100000"/>
              </a:lnSpc>
              <a:spcBef>
                <a:spcPts val="0"/>
              </a:spcBef>
              <a:spcAft>
                <a:spcPts val="0"/>
              </a:spcAft>
              <a:buNone/>
            </a:pPr>
            <a:r>
              <a:t/>
            </a:r>
            <a:endParaRPr sz="28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2800">
              <a:solidFill>
                <a:schemeClr val="dk1"/>
              </a:solidFill>
            </a:endParaRPr>
          </a:p>
          <a:p>
            <a:pPr indent="0" lvl="0" marL="0" rtl="0" algn="l">
              <a:spcBef>
                <a:spcPts val="0"/>
              </a:spcBef>
              <a:spcAft>
                <a:spcPts val="1200"/>
              </a:spcAft>
              <a:buNone/>
            </a:pPr>
            <a:r>
              <a:t/>
            </a:r>
            <a:endParaRPr sz="2800">
              <a:solidFill>
                <a:schemeClr val="dk1"/>
              </a:solidFill>
            </a:endParaRPr>
          </a:p>
        </p:txBody>
      </p:sp>
      <p:pic>
        <p:nvPicPr>
          <p:cNvPr id="102" name="Google Shape;102;p20"/>
          <p:cNvPicPr preferRelativeResize="0"/>
          <p:nvPr/>
        </p:nvPicPr>
        <p:blipFill>
          <a:blip r:embed="rId3">
            <a:alphaModFix/>
          </a:blip>
          <a:stretch>
            <a:fillRect/>
          </a:stretch>
        </p:blipFill>
        <p:spPr>
          <a:xfrm>
            <a:off x="2428875" y="1438275"/>
            <a:ext cx="4286250" cy="2266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a:t>
            </a:r>
            <a:r>
              <a:rPr lang="en-GB"/>
              <a:t>Deep Learning</a:t>
            </a:r>
            <a:r>
              <a:rPr lang="en-GB"/>
              <a:t>?</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u="sng">
                <a:solidFill>
                  <a:schemeClr val="hlink"/>
                </a:solidFill>
                <a:hlinkClick r:id="rId3"/>
              </a:rPr>
              <a:t>Microsoft Word - </a:t>
            </a:r>
            <a:r>
              <a:rPr lang="en-GB" sz="1100" u="sng">
                <a:solidFill>
                  <a:schemeClr val="hlink"/>
                </a:solidFill>
                <a:hlinkClick r:id="rId4"/>
              </a:rPr>
              <a:t>Turing Test</a:t>
            </a:r>
            <a:r>
              <a:rPr lang="en-GB" sz="1100" u="sng">
                <a:solidFill>
                  <a:schemeClr val="hlink"/>
                </a:solidFill>
                <a:hlinkClick r:id="rId5"/>
              </a:rPr>
              <a:t>.doc (umbc.edu)</a:t>
            </a:r>
            <a:endParaRPr/>
          </a:p>
          <a:p>
            <a:pPr indent="0" lvl="0" marL="0" rtl="0" algn="l">
              <a:spcBef>
                <a:spcPts val="1200"/>
              </a:spcBef>
              <a:spcAft>
                <a:spcPts val="1200"/>
              </a:spcAft>
              <a:buNone/>
            </a:pPr>
            <a:r>
              <a:t/>
            </a:r>
            <a:endParaRPr/>
          </a:p>
        </p:txBody>
      </p:sp>
      <p:pic>
        <p:nvPicPr>
          <p:cNvPr id="109" name="Google Shape;109;p21"/>
          <p:cNvPicPr preferRelativeResize="0"/>
          <p:nvPr/>
        </p:nvPicPr>
        <p:blipFill>
          <a:blip r:embed="rId6">
            <a:alphaModFix/>
          </a:blip>
          <a:stretch>
            <a:fillRect/>
          </a:stretch>
        </p:blipFill>
        <p:spPr>
          <a:xfrm>
            <a:off x="1246667" y="0"/>
            <a:ext cx="6650664"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2"/>
          <p:cNvPicPr preferRelativeResize="0"/>
          <p:nvPr/>
        </p:nvPicPr>
        <p:blipFill>
          <a:blip r:embed="rId3">
            <a:alphaModFix/>
          </a:blip>
          <a:stretch>
            <a:fillRect/>
          </a:stretch>
        </p:blipFill>
        <p:spPr>
          <a:xfrm>
            <a:off x="1704975" y="804863"/>
            <a:ext cx="5734050" cy="3533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Machine </a:t>
            </a:r>
            <a:r>
              <a:rPr lang="en-GB"/>
              <a:t>learning</a:t>
            </a:r>
            <a:r>
              <a:rPr lang="en-GB"/>
              <a:t> is </a:t>
            </a:r>
            <a:r>
              <a:rPr lang="en-GB"/>
              <a:t>basically</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Teaching </a:t>
            </a:r>
            <a:r>
              <a:rPr lang="en-GB"/>
              <a:t>machine</a:t>
            </a:r>
            <a:r>
              <a:rPr lang="en-GB"/>
              <a:t> learn patterns in data</a:t>
            </a:r>
            <a:endParaRPr/>
          </a:p>
        </p:txBody>
      </p:sp>
      <p:pic>
        <p:nvPicPr>
          <p:cNvPr id="121" name="Google Shape;121;p2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After an electrical engineer enters the field of computer chess, his creation captures the attention of the world as he attempts to defeat the world chess champion.&#10;&#10;&#10;&#10;Patreon: https://www.patreon.com/fredrikknudsen&#10;&#10;Twitter: https://twitter.com/FredInTheKnud&#10;&#10;Music by Ryan Probert: https://twitter.com/ProbeComposer&#10;Graphic Design by Christopher &quot;Arcaxon&quot; Malouin-Monjaraz: https://twitter.com/Arcaxon&#10;Saxophone by Naomi Sullivan: https://twitter.com/naomisullivan9&#10;Vocals by Rachel Nicholas: https://twitter.com/_rachnicholas&#10;&quot;Chess Personality&quot; Paintings by Anton Oxenuk: https://twitter.com/antonoxenuk&#10;&quot;Gambit&quot; Chess Robot by DerEineSchwarzeRabe: https://twitter.com/D_E_S_R" id="128" name="Google Shape;128;p24" title="Deep Blue | Down the Rabbit Hole">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Dr. Matt Lungren speaks at the CEO Roundtable on Cancer's Project Data Sphere® (PDS), in partnership with the FDA, founded a series of symposia devoted to areas fertile for fresh attention in the realm of cancer clinical trials.  Hosted by Stanford University School of Medicine, the Symposium will focus on machine learning image-recognition algorithms.&#10;&#10;References:&#10;https://www.kdnuggets.com/2016/05/datasets-over-algorithms.html&#10;Detecting and Simulating Artifacts in GAN Fake Images (Extended Version)  Xu Zhang, Svebor Karaman, and Shih-Fu Chang&#10;Pesapane F. et al. Eur Radiol Exp. 2018&#10;Rajpurkar &amp; Irvin et al., PLOS Medicine, 2018  &#10;Rajpurkar &amp; Irvin et al., MIDL, 201  &#10;Bien &amp; Rajpurkar et al., PLOS Medicine, 2018 &#10;Park &amp; Chute &amp; Rajpurkar et al., JAMA Network Open. 2019&#10;https://www.forbes.com/sites/bernardmarr/2018/12/31/the-most-amazing-artificial-intelligence-milestones-so-far/#54ec8a747753&#10;https://towardsdatascience.com/harnessing-infinitely-creative-machine-imagination-6801a9fb4ca9&#10;Huang, Li, et al. &quot;Patient clustering improves efficiency of federated machine learning to predict mortality and hospital stay time using distributed electronic medical records.&quot; Journal of Biomedical Informatics 99 (2019): 103291.&#10;https://www.ncbi.nlm.nih.gov/pmc/articles/PMC6416981/&#10;https://www.kff.org/report-section/the-burden-of-medical-debt-section-3-consequences-of-medical-bill-problems/&#10;https://www.nejm.org/doi/full/10.1056/NEJMp1716604&#10;https://www.the-scientist.com/bio-business/startups-plan-the-health-data-gold-rush-64840&#10;https://culturalanalytics.org/2019/05/data-is-the-new-what-popular-metaphors-professional-ethics-in-emerging-data-culture-2/&#10;https://chesstempo.com/game-database.html&#10;https://dl.acm.org/citation.cfm?id=512152" id="135" name="Google Shape;135;p25" title="AI for &quot;Deep Blue&quot; Moment in Medical Imaging with Open Source Data">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With more board configurations than there are atoms in the universe, the ancient Chinese game of Go has long been considered a grand challenge for artificial intelligence. On March 9, 2016, the worlds of Go and artificial intelligence collided in South Korea for an extraordinary best-of-five-game competition, coined The DeepMind Challenge Match. Hundreds of millions of people around the world watched as a legendary Go master took on an unproven AI challenger for the first time in history.&#10;&#10;Directed by Greg Kohs and with an original score by Academy Award nominee Hauschka, AlphaGo chronicles a journey from the halls of Oxford, through the backstreets of Bordeaux, past the coding terminals of DeepMind in London, and ultimately, to the seven-day tournament in Seoul. As the drama unfolds, more questions emerge: What can artificial intelligence reveal about a 3000-year-old game? What can it teach us about humanity?" id="140" name="Google Shape;140;p26" title="AlphaGo - The Movie | Full Documentary">
            <a:hlinkClick r:id="rId3"/>
          </p:cNvPr>
          <p:cNvPicPr preferRelativeResize="0"/>
          <p:nvPr/>
        </p:nvPicPr>
        <p:blipFill>
          <a:blip r:embed="rId4">
            <a:alphaModFix/>
          </a:blip>
          <a:stretch>
            <a:fillRect/>
          </a:stretch>
        </p:blipFill>
        <p:spPr>
          <a:xfrm>
            <a:off x="1143000" y="0"/>
            <a:ext cx="6858000" cy="5143500"/>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6" name="Google Shape;14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ee how Watson won Jeopardy! and what it meant for the future of cognitive systems.&#10;&#10;http://www.research.ibm.com/cognitive-computing/watson/index.shtml" id="147" name="Google Shape;147;p27" title="Watson and the Jeopardy! Challenge">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3" name="Google Shape;153;p28"/>
          <p:cNvPicPr preferRelativeResize="0"/>
          <p:nvPr/>
        </p:nvPicPr>
        <p:blipFill>
          <a:blip r:embed="rId3">
            <a:alphaModFix/>
          </a:blip>
          <a:stretch>
            <a:fillRect/>
          </a:stretch>
        </p:blipFill>
        <p:spPr>
          <a:xfrm>
            <a:off x="0" y="984498"/>
            <a:ext cx="9144003" cy="31745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9"/>
          <p:cNvPicPr preferRelativeResize="0"/>
          <p:nvPr/>
        </p:nvPicPr>
        <p:blipFill>
          <a:blip r:embed="rId3">
            <a:alphaModFix/>
          </a:blip>
          <a:stretch>
            <a:fillRect/>
          </a:stretch>
        </p:blipFill>
        <p:spPr>
          <a:xfrm>
            <a:off x="1175922" y="0"/>
            <a:ext cx="6792156"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a:t>
            </a:r>
            <a:r>
              <a:rPr lang="en-GB"/>
              <a:t>Deep Learning</a:t>
            </a:r>
            <a:endParaRPr/>
          </a:p>
        </p:txBody>
      </p:sp>
      <p:sp>
        <p:nvSpPr>
          <p:cNvPr id="164" name="Google Shape;16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 Machine learning Technique that learn features and tasks directly from data.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Inputs are run through “Neural Networks”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Neural Network </a:t>
            </a:r>
            <a:r>
              <a:rPr lang="en-GB"/>
              <a:t>have</a:t>
            </a:r>
            <a:r>
              <a:rPr lang="en-GB"/>
              <a:t> hidden layers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10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1000"/>
                                        <p:tgtEl>
                                          <p:spTgt spid="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1000"/>
                                        <p:tgtEl>
                                          <p:spTgt spid="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1000"/>
                                        <p:tgtEl>
                                          <p:spTgt spid="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1000"/>
                                        <p:tgtEl>
                                          <p:spTgt spid="1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a:t>
            </a:r>
            <a:r>
              <a:rPr lang="en-GB"/>
              <a:t>Deep Learning</a:t>
            </a:r>
            <a:r>
              <a:rPr lang="en-GB"/>
              <a:t>?</a:t>
            </a:r>
            <a:endParaRPr/>
          </a:p>
        </p:txBody>
      </p:sp>
      <p:sp>
        <p:nvSpPr>
          <p:cNvPr id="170" name="Google Shape;17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Machines never get Fatigue.</a:t>
            </a:r>
            <a:endParaRPr/>
          </a:p>
          <a:p>
            <a:pPr indent="-342900" lvl="0" marL="457200" rtl="0" algn="l">
              <a:spcBef>
                <a:spcPts val="0"/>
              </a:spcBef>
              <a:spcAft>
                <a:spcPts val="0"/>
              </a:spcAft>
              <a:buSzPts val="1800"/>
              <a:buChar char="●"/>
            </a:pPr>
            <a:r>
              <a:rPr lang="en-GB"/>
              <a:t>They need to get trained from the Human intelligence - </a:t>
            </a:r>
            <a:endParaRPr/>
          </a:p>
          <a:p>
            <a:pPr indent="-342900" lvl="0" marL="457200" rtl="0" algn="l">
              <a:spcBef>
                <a:spcPts val="0"/>
              </a:spcBef>
              <a:spcAft>
                <a:spcPts val="0"/>
              </a:spcAft>
              <a:buSzPts val="1800"/>
              <a:buChar char="●"/>
            </a:pPr>
            <a:r>
              <a:rPr lang="en-GB"/>
              <a:t>They just fetch patterns.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 </a:t>
            </a:r>
            <a:r>
              <a:rPr lang="en-GB"/>
              <a:t>Deep Learning</a:t>
            </a:r>
            <a:endParaRPr/>
          </a:p>
        </p:txBody>
      </p:sp>
      <p:sp>
        <p:nvSpPr>
          <p:cNvPr id="176" name="Google Shape;17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Features can be learnt from Raw Data</a:t>
            </a:r>
            <a:endParaRPr/>
          </a:p>
        </p:txBody>
      </p:sp>
      <p:pic>
        <p:nvPicPr>
          <p:cNvPr id="177" name="Google Shape;177;p32"/>
          <p:cNvPicPr preferRelativeResize="0"/>
          <p:nvPr/>
        </p:nvPicPr>
        <p:blipFill>
          <a:blip r:embed="rId3">
            <a:alphaModFix/>
          </a:blip>
          <a:stretch>
            <a:fillRect/>
          </a:stretch>
        </p:blipFill>
        <p:spPr>
          <a:xfrm>
            <a:off x="2286000" y="981075"/>
            <a:ext cx="4572000" cy="3181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they </a:t>
            </a:r>
            <a:r>
              <a:rPr lang="en-GB"/>
              <a:t>Really</a:t>
            </a:r>
            <a:r>
              <a:rPr lang="en-GB"/>
              <a:t> mean to us?</a:t>
            </a:r>
            <a:endParaRPr/>
          </a:p>
        </p:txBody>
      </p:sp>
      <p:sp>
        <p:nvSpPr>
          <p:cNvPr id="183" name="Google Shape;183;p33"/>
          <p:cNvSpPr/>
          <p:nvPr/>
        </p:nvSpPr>
        <p:spPr>
          <a:xfrm>
            <a:off x="1878325" y="1341650"/>
            <a:ext cx="2250000" cy="97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500"/>
              <a:t>Black Box</a:t>
            </a:r>
            <a:endParaRPr sz="2500"/>
          </a:p>
        </p:txBody>
      </p:sp>
      <p:cxnSp>
        <p:nvCxnSpPr>
          <p:cNvPr id="184" name="Google Shape;184;p33"/>
          <p:cNvCxnSpPr/>
          <p:nvPr/>
        </p:nvCxnSpPr>
        <p:spPr>
          <a:xfrm flipH="1" rot="10800000">
            <a:off x="660525" y="1702700"/>
            <a:ext cx="1248900" cy="1050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33"/>
          <p:cNvCxnSpPr/>
          <p:nvPr/>
        </p:nvCxnSpPr>
        <p:spPr>
          <a:xfrm>
            <a:off x="639875" y="2043475"/>
            <a:ext cx="1238400" cy="10500"/>
          </a:xfrm>
          <a:prstGeom prst="straightConnector1">
            <a:avLst/>
          </a:prstGeom>
          <a:noFill/>
          <a:ln cap="flat" cmpd="sng" w="9525">
            <a:solidFill>
              <a:schemeClr val="dk2"/>
            </a:solidFill>
            <a:prstDash val="solid"/>
            <a:round/>
            <a:headEnd len="med" w="med" type="none"/>
            <a:tailEnd len="med" w="med" type="triangle"/>
          </a:ln>
        </p:spPr>
      </p:cxnSp>
      <p:cxnSp>
        <p:nvCxnSpPr>
          <p:cNvPr id="186" name="Google Shape;186;p33"/>
          <p:cNvCxnSpPr/>
          <p:nvPr/>
        </p:nvCxnSpPr>
        <p:spPr>
          <a:xfrm flipH="1" rot="10800000">
            <a:off x="4128325" y="1795675"/>
            <a:ext cx="1362300" cy="6900"/>
          </a:xfrm>
          <a:prstGeom prst="straightConnector1">
            <a:avLst/>
          </a:prstGeom>
          <a:noFill/>
          <a:ln cap="flat" cmpd="sng" w="9525">
            <a:solidFill>
              <a:schemeClr val="dk2"/>
            </a:solidFill>
            <a:prstDash val="solid"/>
            <a:round/>
            <a:headEnd len="med" w="med" type="none"/>
            <a:tailEnd len="med" w="med" type="triangle"/>
          </a:ln>
        </p:spPr>
      </p:cxnSp>
      <p:sp>
        <p:nvSpPr>
          <p:cNvPr id="187" name="Google Shape;187;p33"/>
          <p:cNvSpPr/>
          <p:nvPr/>
        </p:nvSpPr>
        <p:spPr>
          <a:xfrm>
            <a:off x="4321875" y="3558150"/>
            <a:ext cx="2250000" cy="97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400"/>
              <a:t>Neuron</a:t>
            </a:r>
            <a:endParaRPr sz="2400"/>
          </a:p>
        </p:txBody>
      </p:sp>
      <p:cxnSp>
        <p:nvCxnSpPr>
          <p:cNvPr id="188" name="Google Shape;188;p33"/>
          <p:cNvCxnSpPr/>
          <p:nvPr/>
        </p:nvCxnSpPr>
        <p:spPr>
          <a:xfrm flipH="1" rot="10800000">
            <a:off x="3104075" y="3919200"/>
            <a:ext cx="1248900" cy="10500"/>
          </a:xfrm>
          <a:prstGeom prst="straightConnector1">
            <a:avLst/>
          </a:prstGeom>
          <a:noFill/>
          <a:ln cap="flat" cmpd="sng" w="9525">
            <a:solidFill>
              <a:schemeClr val="dk2"/>
            </a:solidFill>
            <a:prstDash val="solid"/>
            <a:round/>
            <a:headEnd len="med" w="med" type="none"/>
            <a:tailEnd len="med" w="med" type="triangle"/>
          </a:ln>
        </p:spPr>
      </p:cxnSp>
      <p:cxnSp>
        <p:nvCxnSpPr>
          <p:cNvPr id="189" name="Google Shape;189;p33"/>
          <p:cNvCxnSpPr/>
          <p:nvPr/>
        </p:nvCxnSpPr>
        <p:spPr>
          <a:xfrm>
            <a:off x="3083425" y="4259975"/>
            <a:ext cx="1238400" cy="10500"/>
          </a:xfrm>
          <a:prstGeom prst="straightConnector1">
            <a:avLst/>
          </a:prstGeom>
          <a:noFill/>
          <a:ln cap="flat" cmpd="sng" w="9525">
            <a:solidFill>
              <a:schemeClr val="dk2"/>
            </a:solidFill>
            <a:prstDash val="solid"/>
            <a:round/>
            <a:headEnd len="med" w="med" type="none"/>
            <a:tailEnd len="med" w="med" type="triangle"/>
          </a:ln>
        </p:spPr>
      </p:cxnSp>
      <p:cxnSp>
        <p:nvCxnSpPr>
          <p:cNvPr id="190" name="Google Shape;190;p33"/>
          <p:cNvCxnSpPr/>
          <p:nvPr/>
        </p:nvCxnSpPr>
        <p:spPr>
          <a:xfrm flipH="1" rot="10800000">
            <a:off x="6571875" y="4012175"/>
            <a:ext cx="1362300" cy="6900"/>
          </a:xfrm>
          <a:prstGeom prst="straightConnector1">
            <a:avLst/>
          </a:prstGeom>
          <a:noFill/>
          <a:ln cap="flat" cmpd="sng" w="9525">
            <a:solidFill>
              <a:schemeClr val="dk2"/>
            </a:solidFill>
            <a:prstDash val="solid"/>
            <a:round/>
            <a:headEnd len="med" w="med" type="none"/>
            <a:tailEnd len="med" w="med" type="triangle"/>
          </a:ln>
        </p:spPr>
      </p:cxnSp>
      <p:sp>
        <p:nvSpPr>
          <p:cNvPr id="191" name="Google Shape;191;p33"/>
          <p:cNvSpPr txBox="1"/>
          <p:nvPr/>
        </p:nvSpPr>
        <p:spPr>
          <a:xfrm>
            <a:off x="537975" y="1325250"/>
            <a:ext cx="27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X</a:t>
            </a:r>
            <a:endParaRPr/>
          </a:p>
        </p:txBody>
      </p:sp>
      <p:sp>
        <p:nvSpPr>
          <p:cNvPr id="192" name="Google Shape;192;p33"/>
          <p:cNvSpPr txBox="1"/>
          <p:nvPr/>
        </p:nvSpPr>
        <p:spPr>
          <a:xfrm>
            <a:off x="660525" y="2032975"/>
            <a:ext cx="27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Y</a:t>
            </a:r>
            <a:endParaRPr/>
          </a:p>
        </p:txBody>
      </p:sp>
      <p:sp>
        <p:nvSpPr>
          <p:cNvPr id="193" name="Google Shape;193;p33"/>
          <p:cNvSpPr txBox="1"/>
          <p:nvPr/>
        </p:nvSpPr>
        <p:spPr>
          <a:xfrm>
            <a:off x="4193775" y="1325250"/>
            <a:ext cx="250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Some functional Output</a:t>
            </a:r>
            <a:endParaRPr/>
          </a:p>
        </p:txBody>
      </p:sp>
      <p:sp>
        <p:nvSpPr>
          <p:cNvPr id="194" name="Google Shape;194;p33"/>
          <p:cNvSpPr txBox="1"/>
          <p:nvPr/>
        </p:nvSpPr>
        <p:spPr>
          <a:xfrm>
            <a:off x="2793300" y="3702488"/>
            <a:ext cx="27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X</a:t>
            </a:r>
            <a:endParaRPr/>
          </a:p>
        </p:txBody>
      </p:sp>
      <p:sp>
        <p:nvSpPr>
          <p:cNvPr id="195" name="Google Shape;195;p33"/>
          <p:cNvSpPr txBox="1"/>
          <p:nvPr/>
        </p:nvSpPr>
        <p:spPr>
          <a:xfrm>
            <a:off x="2865475" y="4259963"/>
            <a:ext cx="27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Y</a:t>
            </a:r>
            <a:endParaRPr/>
          </a:p>
        </p:txBody>
      </p:sp>
      <p:sp>
        <p:nvSpPr>
          <p:cNvPr id="196" name="Google Shape;196;p33"/>
          <p:cNvSpPr txBox="1"/>
          <p:nvPr/>
        </p:nvSpPr>
        <p:spPr>
          <a:xfrm>
            <a:off x="6571875" y="3403463"/>
            <a:ext cx="2506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Some functional Output that is inspired by brain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p:nvPr/>
        </p:nvSpPr>
        <p:spPr>
          <a:xfrm>
            <a:off x="1628775" y="1017975"/>
            <a:ext cx="4436400" cy="167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 name="Google Shape;202;p34"/>
          <p:cNvCxnSpPr/>
          <p:nvPr/>
        </p:nvCxnSpPr>
        <p:spPr>
          <a:xfrm>
            <a:off x="439350" y="1296600"/>
            <a:ext cx="1167900" cy="10800"/>
          </a:xfrm>
          <a:prstGeom prst="straightConnector1">
            <a:avLst/>
          </a:prstGeom>
          <a:noFill/>
          <a:ln cap="flat" cmpd="sng" w="9525">
            <a:solidFill>
              <a:schemeClr val="dk2"/>
            </a:solidFill>
            <a:prstDash val="solid"/>
            <a:round/>
            <a:headEnd len="med" w="med" type="none"/>
            <a:tailEnd len="med" w="med" type="triangle"/>
          </a:ln>
        </p:spPr>
      </p:cxnSp>
      <p:cxnSp>
        <p:nvCxnSpPr>
          <p:cNvPr id="203" name="Google Shape;203;p34"/>
          <p:cNvCxnSpPr/>
          <p:nvPr/>
        </p:nvCxnSpPr>
        <p:spPr>
          <a:xfrm>
            <a:off x="503625" y="2400300"/>
            <a:ext cx="1103700" cy="1080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p34"/>
          <p:cNvCxnSpPr/>
          <p:nvPr/>
        </p:nvCxnSpPr>
        <p:spPr>
          <a:xfrm>
            <a:off x="6086475" y="2089550"/>
            <a:ext cx="1296600" cy="0"/>
          </a:xfrm>
          <a:prstGeom prst="straightConnector1">
            <a:avLst/>
          </a:prstGeom>
          <a:noFill/>
          <a:ln cap="flat" cmpd="sng" w="9525">
            <a:solidFill>
              <a:schemeClr val="dk2"/>
            </a:solidFill>
            <a:prstDash val="solid"/>
            <a:round/>
            <a:headEnd len="med" w="med" type="none"/>
            <a:tailEnd len="med" w="med" type="triangle"/>
          </a:ln>
        </p:spPr>
      </p:cxnSp>
      <p:sp>
        <p:nvSpPr>
          <p:cNvPr id="205" name="Google Shape;205;p34"/>
          <p:cNvSpPr txBox="1"/>
          <p:nvPr/>
        </p:nvSpPr>
        <p:spPr>
          <a:xfrm>
            <a:off x="385775" y="857250"/>
            <a:ext cx="116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DATA</a:t>
            </a:r>
            <a:endParaRPr b="1"/>
          </a:p>
        </p:txBody>
      </p:sp>
      <p:sp>
        <p:nvSpPr>
          <p:cNvPr id="206" name="Google Shape;206;p34"/>
          <p:cNvSpPr txBox="1"/>
          <p:nvPr/>
        </p:nvSpPr>
        <p:spPr>
          <a:xfrm>
            <a:off x="150025" y="1853800"/>
            <a:ext cx="140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Algorithm</a:t>
            </a:r>
            <a:endParaRPr b="1"/>
          </a:p>
        </p:txBody>
      </p:sp>
      <p:sp>
        <p:nvSpPr>
          <p:cNvPr id="207" name="Google Shape;207;p34"/>
          <p:cNvSpPr txBox="1"/>
          <p:nvPr/>
        </p:nvSpPr>
        <p:spPr>
          <a:xfrm>
            <a:off x="6343650" y="1507275"/>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Output</a:t>
            </a:r>
            <a:endParaRPr b="1"/>
          </a:p>
        </p:txBody>
      </p:sp>
      <p:pic>
        <p:nvPicPr>
          <p:cNvPr id="208" name="Google Shape;208;p34"/>
          <p:cNvPicPr preferRelativeResize="0"/>
          <p:nvPr/>
        </p:nvPicPr>
        <p:blipFill>
          <a:blip r:embed="rId3">
            <a:alphaModFix/>
          </a:blip>
          <a:stretch>
            <a:fillRect/>
          </a:stretch>
        </p:blipFill>
        <p:spPr>
          <a:xfrm>
            <a:off x="152400" y="2841975"/>
            <a:ext cx="3143250" cy="1905000"/>
          </a:xfrm>
          <a:prstGeom prst="rect">
            <a:avLst/>
          </a:prstGeom>
          <a:noFill/>
          <a:ln>
            <a:noFill/>
          </a:ln>
        </p:spPr>
      </p:pic>
      <p:pic>
        <p:nvPicPr>
          <p:cNvPr id="209" name="Google Shape;209;p34"/>
          <p:cNvPicPr preferRelativeResize="0"/>
          <p:nvPr/>
        </p:nvPicPr>
        <p:blipFill>
          <a:blip r:embed="rId4">
            <a:alphaModFix/>
          </a:blip>
          <a:stretch>
            <a:fillRect/>
          </a:stretch>
        </p:blipFill>
        <p:spPr>
          <a:xfrm>
            <a:off x="5591175" y="2895550"/>
            <a:ext cx="3676650" cy="1905000"/>
          </a:xfrm>
          <a:prstGeom prst="rect">
            <a:avLst/>
          </a:prstGeom>
          <a:noFill/>
          <a:ln>
            <a:noFill/>
          </a:ln>
        </p:spPr>
      </p:pic>
      <p:sp>
        <p:nvSpPr>
          <p:cNvPr id="210" name="Google Shape;210;p34"/>
          <p:cNvSpPr txBox="1"/>
          <p:nvPr>
            <p:ph type="title"/>
          </p:nvPr>
        </p:nvSpPr>
        <p:spPr>
          <a:xfrm>
            <a:off x="311700" y="177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Traditionally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p:nvPr/>
        </p:nvSpPr>
        <p:spPr>
          <a:xfrm>
            <a:off x="1628775" y="1017975"/>
            <a:ext cx="4436400" cy="167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 name="Google Shape;216;p35"/>
          <p:cNvCxnSpPr/>
          <p:nvPr/>
        </p:nvCxnSpPr>
        <p:spPr>
          <a:xfrm>
            <a:off x="439350" y="1296600"/>
            <a:ext cx="1167900" cy="10800"/>
          </a:xfrm>
          <a:prstGeom prst="straightConnector1">
            <a:avLst/>
          </a:prstGeom>
          <a:noFill/>
          <a:ln cap="flat" cmpd="sng" w="9525">
            <a:solidFill>
              <a:schemeClr val="dk2"/>
            </a:solidFill>
            <a:prstDash val="solid"/>
            <a:round/>
            <a:headEnd len="med" w="med" type="none"/>
            <a:tailEnd len="med" w="med" type="triangle"/>
          </a:ln>
        </p:spPr>
      </p:cxnSp>
      <p:cxnSp>
        <p:nvCxnSpPr>
          <p:cNvPr id="217" name="Google Shape;217;p35"/>
          <p:cNvCxnSpPr/>
          <p:nvPr/>
        </p:nvCxnSpPr>
        <p:spPr>
          <a:xfrm>
            <a:off x="503625" y="2400300"/>
            <a:ext cx="1103700" cy="1080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35"/>
          <p:cNvCxnSpPr/>
          <p:nvPr/>
        </p:nvCxnSpPr>
        <p:spPr>
          <a:xfrm>
            <a:off x="6086475" y="2089550"/>
            <a:ext cx="1296600" cy="0"/>
          </a:xfrm>
          <a:prstGeom prst="straightConnector1">
            <a:avLst/>
          </a:prstGeom>
          <a:noFill/>
          <a:ln cap="flat" cmpd="sng" w="9525">
            <a:solidFill>
              <a:schemeClr val="dk2"/>
            </a:solidFill>
            <a:prstDash val="solid"/>
            <a:round/>
            <a:headEnd len="med" w="med" type="none"/>
            <a:tailEnd len="med" w="med" type="triangle"/>
          </a:ln>
        </p:spPr>
      </p:cxnSp>
      <p:sp>
        <p:nvSpPr>
          <p:cNvPr id="219" name="Google Shape;219;p35"/>
          <p:cNvSpPr txBox="1"/>
          <p:nvPr/>
        </p:nvSpPr>
        <p:spPr>
          <a:xfrm>
            <a:off x="385775" y="857250"/>
            <a:ext cx="116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DATA</a:t>
            </a:r>
            <a:endParaRPr b="1"/>
          </a:p>
        </p:txBody>
      </p:sp>
      <p:sp>
        <p:nvSpPr>
          <p:cNvPr id="220" name="Google Shape;220;p35"/>
          <p:cNvSpPr txBox="1"/>
          <p:nvPr/>
        </p:nvSpPr>
        <p:spPr>
          <a:xfrm>
            <a:off x="6370500" y="2271625"/>
            <a:ext cx="140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Algorithm</a:t>
            </a:r>
            <a:endParaRPr b="1"/>
          </a:p>
        </p:txBody>
      </p:sp>
      <p:sp>
        <p:nvSpPr>
          <p:cNvPr id="221" name="Google Shape;221;p35"/>
          <p:cNvSpPr txBox="1"/>
          <p:nvPr/>
        </p:nvSpPr>
        <p:spPr>
          <a:xfrm>
            <a:off x="150075" y="1889450"/>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Output</a:t>
            </a:r>
            <a:endParaRPr b="1"/>
          </a:p>
        </p:txBody>
      </p:sp>
      <p:pic>
        <p:nvPicPr>
          <p:cNvPr id="222" name="Google Shape;222;p35"/>
          <p:cNvPicPr preferRelativeResize="0"/>
          <p:nvPr/>
        </p:nvPicPr>
        <p:blipFill>
          <a:blip r:embed="rId3">
            <a:alphaModFix/>
          </a:blip>
          <a:stretch>
            <a:fillRect/>
          </a:stretch>
        </p:blipFill>
        <p:spPr>
          <a:xfrm>
            <a:off x="2695575" y="2852700"/>
            <a:ext cx="3390900" cy="1905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p:nvPr/>
        </p:nvSpPr>
        <p:spPr>
          <a:xfrm>
            <a:off x="1500200" y="792950"/>
            <a:ext cx="2443200" cy="108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6"/>
          <p:cNvSpPr/>
          <p:nvPr/>
        </p:nvSpPr>
        <p:spPr>
          <a:xfrm>
            <a:off x="3793325" y="2850350"/>
            <a:ext cx="3193200" cy="109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9" name="Google Shape;229;p36"/>
          <p:cNvCxnSpPr/>
          <p:nvPr/>
        </p:nvCxnSpPr>
        <p:spPr>
          <a:xfrm flipH="1" rot="10800000">
            <a:off x="342900" y="1060975"/>
            <a:ext cx="1157400" cy="21300"/>
          </a:xfrm>
          <a:prstGeom prst="straightConnector1">
            <a:avLst/>
          </a:prstGeom>
          <a:noFill/>
          <a:ln cap="flat" cmpd="sng" w="9525">
            <a:solidFill>
              <a:schemeClr val="dk2"/>
            </a:solidFill>
            <a:prstDash val="solid"/>
            <a:round/>
            <a:headEnd len="med" w="med" type="none"/>
            <a:tailEnd len="med" w="med" type="triangle"/>
          </a:ln>
        </p:spPr>
      </p:cxnSp>
      <p:cxnSp>
        <p:nvCxnSpPr>
          <p:cNvPr id="230" name="Google Shape;230;p36"/>
          <p:cNvCxnSpPr/>
          <p:nvPr/>
        </p:nvCxnSpPr>
        <p:spPr>
          <a:xfrm flipH="1" rot="10800000">
            <a:off x="332175" y="1714550"/>
            <a:ext cx="1157400" cy="32100"/>
          </a:xfrm>
          <a:prstGeom prst="straightConnector1">
            <a:avLst/>
          </a:prstGeom>
          <a:noFill/>
          <a:ln cap="flat" cmpd="sng" w="9525">
            <a:solidFill>
              <a:schemeClr val="dk2"/>
            </a:solidFill>
            <a:prstDash val="solid"/>
            <a:round/>
            <a:headEnd len="med" w="med" type="none"/>
            <a:tailEnd len="med" w="med" type="triangle"/>
          </a:ln>
        </p:spPr>
      </p:cxnSp>
      <p:cxnSp>
        <p:nvCxnSpPr>
          <p:cNvPr id="231" name="Google Shape;231;p36"/>
          <p:cNvCxnSpPr/>
          <p:nvPr/>
        </p:nvCxnSpPr>
        <p:spPr>
          <a:xfrm>
            <a:off x="2057400" y="3053950"/>
            <a:ext cx="1703700" cy="64200"/>
          </a:xfrm>
          <a:prstGeom prst="straightConnector1">
            <a:avLst/>
          </a:prstGeom>
          <a:noFill/>
          <a:ln cap="flat" cmpd="sng" w="9525">
            <a:solidFill>
              <a:schemeClr val="dk2"/>
            </a:solidFill>
            <a:prstDash val="solid"/>
            <a:round/>
            <a:headEnd len="med" w="med" type="none"/>
            <a:tailEnd len="med" w="med" type="triangle"/>
          </a:ln>
        </p:spPr>
      </p:cxnSp>
      <p:cxnSp>
        <p:nvCxnSpPr>
          <p:cNvPr id="232" name="Google Shape;232;p36"/>
          <p:cNvCxnSpPr/>
          <p:nvPr/>
        </p:nvCxnSpPr>
        <p:spPr>
          <a:xfrm>
            <a:off x="2389575" y="3632600"/>
            <a:ext cx="1371600" cy="21600"/>
          </a:xfrm>
          <a:prstGeom prst="straightConnector1">
            <a:avLst/>
          </a:prstGeom>
          <a:noFill/>
          <a:ln cap="flat" cmpd="sng" w="9525">
            <a:solidFill>
              <a:schemeClr val="dk2"/>
            </a:solidFill>
            <a:prstDash val="solid"/>
            <a:round/>
            <a:headEnd len="med" w="med" type="none"/>
            <a:tailEnd len="med" w="med" type="triangle"/>
          </a:ln>
        </p:spPr>
      </p:cxnSp>
      <p:cxnSp>
        <p:nvCxnSpPr>
          <p:cNvPr id="233" name="Google Shape;233;p36"/>
          <p:cNvCxnSpPr/>
          <p:nvPr/>
        </p:nvCxnSpPr>
        <p:spPr>
          <a:xfrm flipH="1" rot="10800000">
            <a:off x="7040175" y="3386000"/>
            <a:ext cx="1714500" cy="48300"/>
          </a:xfrm>
          <a:prstGeom prst="straightConnector1">
            <a:avLst/>
          </a:prstGeom>
          <a:noFill/>
          <a:ln cap="flat" cmpd="sng" w="9525">
            <a:solidFill>
              <a:schemeClr val="dk2"/>
            </a:solidFill>
            <a:prstDash val="solid"/>
            <a:round/>
            <a:headEnd len="med" w="med" type="none"/>
            <a:tailEnd len="med" w="med" type="triangle"/>
          </a:ln>
        </p:spPr>
      </p:cxnSp>
      <p:sp>
        <p:nvSpPr>
          <p:cNvPr id="234" name="Google Shape;234;p36"/>
          <p:cNvSpPr txBox="1"/>
          <p:nvPr/>
        </p:nvSpPr>
        <p:spPr>
          <a:xfrm>
            <a:off x="278600" y="535775"/>
            <a:ext cx="116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DATA</a:t>
            </a:r>
            <a:endParaRPr b="1"/>
          </a:p>
        </p:txBody>
      </p:sp>
      <p:sp>
        <p:nvSpPr>
          <p:cNvPr id="235" name="Google Shape;235;p36"/>
          <p:cNvSpPr txBox="1"/>
          <p:nvPr/>
        </p:nvSpPr>
        <p:spPr>
          <a:xfrm>
            <a:off x="182175" y="1793000"/>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Output</a:t>
            </a:r>
            <a:endParaRPr b="1"/>
          </a:p>
        </p:txBody>
      </p:sp>
      <p:cxnSp>
        <p:nvCxnSpPr>
          <p:cNvPr id="236" name="Google Shape;236;p36"/>
          <p:cNvCxnSpPr>
            <a:stCxn id="227" idx="3"/>
          </p:cNvCxnSpPr>
          <p:nvPr/>
        </p:nvCxnSpPr>
        <p:spPr>
          <a:xfrm flipH="1" rot="10800000">
            <a:off x="3943400" y="1317950"/>
            <a:ext cx="1328700" cy="16200"/>
          </a:xfrm>
          <a:prstGeom prst="straightConnector1">
            <a:avLst/>
          </a:prstGeom>
          <a:noFill/>
          <a:ln cap="flat" cmpd="sng" w="9525">
            <a:solidFill>
              <a:schemeClr val="dk2"/>
            </a:solidFill>
            <a:prstDash val="solid"/>
            <a:round/>
            <a:headEnd len="med" w="med" type="none"/>
            <a:tailEnd len="med" w="med" type="triangle"/>
          </a:ln>
        </p:spPr>
      </p:cxnSp>
      <p:sp>
        <p:nvSpPr>
          <p:cNvPr id="237" name="Google Shape;237;p36"/>
          <p:cNvSpPr txBox="1"/>
          <p:nvPr/>
        </p:nvSpPr>
        <p:spPr>
          <a:xfrm>
            <a:off x="2306225" y="2627700"/>
            <a:ext cx="116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DATA</a:t>
            </a:r>
            <a:endParaRPr b="1"/>
          </a:p>
        </p:txBody>
      </p:sp>
      <p:sp>
        <p:nvSpPr>
          <p:cNvPr id="238" name="Google Shape;238;p36"/>
          <p:cNvSpPr txBox="1"/>
          <p:nvPr/>
        </p:nvSpPr>
        <p:spPr>
          <a:xfrm>
            <a:off x="4179100" y="825100"/>
            <a:ext cx="197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Model</a:t>
            </a:r>
            <a:endParaRPr b="1"/>
          </a:p>
        </p:txBody>
      </p:sp>
      <p:sp>
        <p:nvSpPr>
          <p:cNvPr id="239" name="Google Shape;239;p36"/>
          <p:cNvSpPr txBox="1"/>
          <p:nvPr/>
        </p:nvSpPr>
        <p:spPr>
          <a:xfrm>
            <a:off x="2389575" y="3654025"/>
            <a:ext cx="116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Model</a:t>
            </a:r>
            <a:endParaRPr b="1"/>
          </a:p>
        </p:txBody>
      </p:sp>
      <p:sp>
        <p:nvSpPr>
          <p:cNvPr id="240" name="Google Shape;240;p36"/>
          <p:cNvSpPr txBox="1"/>
          <p:nvPr/>
        </p:nvSpPr>
        <p:spPr>
          <a:xfrm>
            <a:off x="7222375" y="3543050"/>
            <a:ext cx="132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Predictions</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p:nvPr/>
        </p:nvSpPr>
        <p:spPr>
          <a:xfrm>
            <a:off x="2905763" y="2000213"/>
            <a:ext cx="2443200" cy="108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Neuron</a:t>
            </a:r>
            <a:endParaRPr/>
          </a:p>
        </p:txBody>
      </p:sp>
      <p:cxnSp>
        <p:nvCxnSpPr>
          <p:cNvPr id="246" name="Google Shape;246;p37"/>
          <p:cNvCxnSpPr/>
          <p:nvPr/>
        </p:nvCxnSpPr>
        <p:spPr>
          <a:xfrm flipH="1" rot="10800000">
            <a:off x="1748463" y="2268238"/>
            <a:ext cx="1157400" cy="21300"/>
          </a:xfrm>
          <a:prstGeom prst="straightConnector1">
            <a:avLst/>
          </a:prstGeom>
          <a:noFill/>
          <a:ln cap="flat" cmpd="sng" w="28575">
            <a:solidFill>
              <a:schemeClr val="dk2"/>
            </a:solidFill>
            <a:prstDash val="solid"/>
            <a:round/>
            <a:headEnd len="med" w="med" type="none"/>
            <a:tailEnd len="med" w="med" type="triangle"/>
          </a:ln>
        </p:spPr>
      </p:cxnSp>
      <p:cxnSp>
        <p:nvCxnSpPr>
          <p:cNvPr id="247" name="Google Shape;247;p37"/>
          <p:cNvCxnSpPr/>
          <p:nvPr/>
        </p:nvCxnSpPr>
        <p:spPr>
          <a:xfrm flipH="1" rot="10800000">
            <a:off x="1737738" y="2921813"/>
            <a:ext cx="1157400" cy="32100"/>
          </a:xfrm>
          <a:prstGeom prst="straightConnector1">
            <a:avLst/>
          </a:prstGeom>
          <a:noFill/>
          <a:ln cap="flat" cmpd="sng" w="28575">
            <a:solidFill>
              <a:schemeClr val="dk2"/>
            </a:solidFill>
            <a:prstDash val="solid"/>
            <a:round/>
            <a:headEnd len="med" w="med" type="none"/>
            <a:tailEnd len="med" w="med" type="triangle"/>
          </a:ln>
        </p:spPr>
      </p:cxnSp>
      <p:sp>
        <p:nvSpPr>
          <p:cNvPr id="248" name="Google Shape;248;p37"/>
          <p:cNvSpPr txBox="1"/>
          <p:nvPr/>
        </p:nvSpPr>
        <p:spPr>
          <a:xfrm>
            <a:off x="1684163" y="1743038"/>
            <a:ext cx="116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DATA</a:t>
            </a:r>
            <a:endParaRPr b="1"/>
          </a:p>
        </p:txBody>
      </p:sp>
      <p:sp>
        <p:nvSpPr>
          <p:cNvPr id="249" name="Google Shape;249;p37"/>
          <p:cNvSpPr txBox="1"/>
          <p:nvPr/>
        </p:nvSpPr>
        <p:spPr>
          <a:xfrm>
            <a:off x="3282413" y="3322013"/>
            <a:ext cx="14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Output</a:t>
            </a:r>
            <a:endParaRPr b="1"/>
          </a:p>
        </p:txBody>
      </p:sp>
      <p:cxnSp>
        <p:nvCxnSpPr>
          <p:cNvPr id="250" name="Google Shape;250;p37"/>
          <p:cNvCxnSpPr>
            <a:stCxn id="245" idx="3"/>
          </p:cNvCxnSpPr>
          <p:nvPr/>
        </p:nvCxnSpPr>
        <p:spPr>
          <a:xfrm flipH="1" rot="10800000">
            <a:off x="5348963" y="2525213"/>
            <a:ext cx="1328700" cy="16200"/>
          </a:xfrm>
          <a:prstGeom prst="straightConnector1">
            <a:avLst/>
          </a:prstGeom>
          <a:noFill/>
          <a:ln cap="flat" cmpd="sng" w="28575">
            <a:solidFill>
              <a:schemeClr val="dk2"/>
            </a:solidFill>
            <a:prstDash val="solid"/>
            <a:round/>
            <a:headEnd len="med" w="med" type="none"/>
            <a:tailEnd len="med" w="med" type="triangle"/>
          </a:ln>
        </p:spPr>
      </p:cxnSp>
      <p:sp>
        <p:nvSpPr>
          <p:cNvPr id="251" name="Google Shape;251;p37"/>
          <p:cNvSpPr txBox="1"/>
          <p:nvPr/>
        </p:nvSpPr>
        <p:spPr>
          <a:xfrm>
            <a:off x="1684163" y="2921813"/>
            <a:ext cx="197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Model</a:t>
            </a:r>
            <a:endParaRPr b="1"/>
          </a:p>
        </p:txBody>
      </p:sp>
      <p:cxnSp>
        <p:nvCxnSpPr>
          <p:cNvPr id="252" name="Google Shape;252;p37"/>
          <p:cNvCxnSpPr>
            <a:stCxn id="249" idx="2"/>
            <a:endCxn id="245" idx="2"/>
          </p:cNvCxnSpPr>
          <p:nvPr/>
        </p:nvCxnSpPr>
        <p:spPr>
          <a:xfrm flipH="1" rot="10800000">
            <a:off x="4011113" y="3082613"/>
            <a:ext cx="116400" cy="639600"/>
          </a:xfrm>
          <a:prstGeom prst="straightConnector1">
            <a:avLst/>
          </a:prstGeom>
          <a:noFill/>
          <a:ln cap="flat" cmpd="sng" w="28575">
            <a:solidFill>
              <a:schemeClr val="dk2"/>
            </a:solidFill>
            <a:prstDash val="solid"/>
            <a:round/>
            <a:headEnd len="med" w="med" type="none"/>
            <a:tailEnd len="med" w="med" type="triangle"/>
          </a:ln>
        </p:spPr>
      </p:cxnSp>
      <p:cxnSp>
        <p:nvCxnSpPr>
          <p:cNvPr id="253" name="Google Shape;253;p37"/>
          <p:cNvCxnSpPr>
            <a:endCxn id="245" idx="0"/>
          </p:cNvCxnSpPr>
          <p:nvPr/>
        </p:nvCxnSpPr>
        <p:spPr>
          <a:xfrm>
            <a:off x="3002963" y="802613"/>
            <a:ext cx="1124400" cy="1197600"/>
          </a:xfrm>
          <a:prstGeom prst="straightConnector1">
            <a:avLst/>
          </a:prstGeom>
          <a:noFill/>
          <a:ln cap="flat" cmpd="sng" w="28575">
            <a:solidFill>
              <a:schemeClr val="dk2"/>
            </a:solidFill>
            <a:prstDash val="solid"/>
            <a:round/>
            <a:headEnd len="med" w="med" type="none"/>
            <a:tailEnd len="med" w="med" type="triangle"/>
          </a:ln>
        </p:spPr>
      </p:cxnSp>
      <p:cxnSp>
        <p:nvCxnSpPr>
          <p:cNvPr id="254" name="Google Shape;254;p37"/>
          <p:cNvCxnSpPr/>
          <p:nvPr/>
        </p:nvCxnSpPr>
        <p:spPr>
          <a:xfrm flipH="1">
            <a:off x="4950250" y="668950"/>
            <a:ext cx="728400" cy="1263600"/>
          </a:xfrm>
          <a:prstGeom prst="straightConnector1">
            <a:avLst/>
          </a:prstGeom>
          <a:noFill/>
          <a:ln cap="flat" cmpd="sng" w="28575">
            <a:solidFill>
              <a:schemeClr val="dk2"/>
            </a:solidFill>
            <a:prstDash val="solid"/>
            <a:round/>
            <a:headEnd len="med" w="med" type="none"/>
            <a:tailEnd len="med" w="med" type="triangle"/>
          </a:ln>
        </p:spPr>
      </p:cxnSp>
      <p:sp>
        <p:nvSpPr>
          <p:cNvPr id="255" name="Google Shape;255;p37"/>
          <p:cNvSpPr txBox="1"/>
          <p:nvPr/>
        </p:nvSpPr>
        <p:spPr>
          <a:xfrm>
            <a:off x="3285300" y="550025"/>
            <a:ext cx="128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Insight</a:t>
            </a:r>
            <a:endParaRPr/>
          </a:p>
        </p:txBody>
      </p:sp>
      <p:sp>
        <p:nvSpPr>
          <p:cNvPr id="256" name="Google Shape;256;p37"/>
          <p:cNvSpPr txBox="1"/>
          <p:nvPr/>
        </p:nvSpPr>
        <p:spPr>
          <a:xfrm>
            <a:off x="5574600" y="1159525"/>
            <a:ext cx="11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Intent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do we need now?</a:t>
            </a:r>
            <a:endParaRPr/>
          </a:p>
        </p:txBody>
      </p:sp>
      <p:sp>
        <p:nvSpPr>
          <p:cNvPr id="262" name="Google Shape;26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Data is </a:t>
            </a:r>
            <a:r>
              <a:rPr lang="en-GB"/>
              <a:t>Prevalent</a:t>
            </a:r>
            <a:r>
              <a:rPr lang="en-GB"/>
              <a:t>?</a:t>
            </a:r>
            <a:endParaRPr/>
          </a:p>
          <a:p>
            <a:pPr indent="-342900" lvl="0" marL="457200" rtl="0" algn="l">
              <a:spcBef>
                <a:spcPts val="0"/>
              </a:spcBef>
              <a:spcAft>
                <a:spcPts val="0"/>
              </a:spcAft>
              <a:buSzPts val="1800"/>
              <a:buChar char="●"/>
            </a:pPr>
            <a:r>
              <a:rPr lang="en-GB"/>
              <a:t>Improved</a:t>
            </a:r>
            <a:r>
              <a:rPr lang="en-GB"/>
              <a:t> Hardware Architecture</a:t>
            </a:r>
            <a:endParaRPr/>
          </a:p>
          <a:p>
            <a:pPr indent="-342900" lvl="0" marL="457200" rtl="0" algn="l">
              <a:spcBef>
                <a:spcPts val="0"/>
              </a:spcBef>
              <a:spcAft>
                <a:spcPts val="0"/>
              </a:spcAft>
              <a:buSzPts val="1800"/>
              <a:buChar char="●"/>
            </a:pPr>
            <a:r>
              <a:rPr lang="en-GB"/>
              <a:t>New Software Architecture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Neural Networks</a:t>
            </a:r>
            <a:endParaRPr/>
          </a:p>
        </p:txBody>
      </p:sp>
      <p:sp>
        <p:nvSpPr>
          <p:cNvPr id="268" name="Google Shape;26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Inspired by the Neurons on the Brain.</a:t>
            </a:r>
            <a:endParaRPr/>
          </a:p>
        </p:txBody>
      </p:sp>
      <p:pic>
        <p:nvPicPr>
          <p:cNvPr id="269" name="Google Shape;269;p39"/>
          <p:cNvPicPr preferRelativeResize="0"/>
          <p:nvPr/>
        </p:nvPicPr>
        <p:blipFill>
          <a:blip r:embed="rId3">
            <a:alphaModFix/>
          </a:blip>
          <a:stretch>
            <a:fillRect/>
          </a:stretch>
        </p:blipFill>
        <p:spPr>
          <a:xfrm>
            <a:off x="1495425" y="485775"/>
            <a:ext cx="6153150" cy="4171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Building Block of the Neural Network is </a:t>
            </a:r>
            <a:endParaRPr/>
          </a:p>
        </p:txBody>
      </p:sp>
      <p:sp>
        <p:nvSpPr>
          <p:cNvPr id="275" name="Google Shape;27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Neuron</a:t>
            </a:r>
            <a:endParaRPr/>
          </a:p>
        </p:txBody>
      </p:sp>
      <p:pic>
        <p:nvPicPr>
          <p:cNvPr id="276" name="Google Shape;276;p40"/>
          <p:cNvPicPr preferRelativeResize="0"/>
          <p:nvPr/>
        </p:nvPicPr>
        <p:blipFill>
          <a:blip r:embed="rId3">
            <a:alphaModFix/>
          </a:blip>
          <a:stretch>
            <a:fillRect/>
          </a:stretch>
        </p:blipFill>
        <p:spPr>
          <a:xfrm>
            <a:off x="1943100" y="1195388"/>
            <a:ext cx="5257800" cy="275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Neural Network</a:t>
            </a:r>
            <a:endParaRPr/>
          </a:p>
        </p:txBody>
      </p:sp>
      <p:sp>
        <p:nvSpPr>
          <p:cNvPr id="282" name="Google Shape;28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Take data as the input </a:t>
            </a:r>
            <a:endParaRPr/>
          </a:p>
          <a:p>
            <a:pPr indent="-342900" lvl="0" marL="457200" rtl="0" algn="l">
              <a:spcBef>
                <a:spcPts val="0"/>
              </a:spcBef>
              <a:spcAft>
                <a:spcPts val="0"/>
              </a:spcAft>
              <a:buSzPts val="1800"/>
              <a:buChar char="●"/>
            </a:pPr>
            <a:r>
              <a:rPr lang="en-GB"/>
              <a:t>Train themselves to understand the patterns </a:t>
            </a:r>
            <a:r>
              <a:rPr lang="en-GB"/>
              <a:t>in</a:t>
            </a:r>
            <a:r>
              <a:rPr lang="en-GB"/>
              <a:t> </a:t>
            </a:r>
            <a:r>
              <a:rPr lang="en-GB"/>
              <a:t>the</a:t>
            </a:r>
            <a:r>
              <a:rPr lang="en-GB"/>
              <a:t> data</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 simple Neural Network</a:t>
            </a:r>
            <a:endParaRPr/>
          </a:p>
        </p:txBody>
      </p:sp>
      <p:sp>
        <p:nvSpPr>
          <p:cNvPr id="288" name="Google Shape;28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9" name="Google Shape;289;p42"/>
          <p:cNvPicPr preferRelativeResize="0"/>
          <p:nvPr/>
        </p:nvPicPr>
        <p:blipFill>
          <a:blip r:embed="rId3">
            <a:alphaModFix/>
          </a:blip>
          <a:stretch>
            <a:fillRect/>
          </a:stretch>
        </p:blipFill>
        <p:spPr>
          <a:xfrm>
            <a:off x="67870" y="0"/>
            <a:ext cx="9008262"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Learning Process of the </a:t>
            </a:r>
            <a:r>
              <a:rPr lang="en-GB"/>
              <a:t>Neural</a:t>
            </a:r>
            <a:r>
              <a:rPr lang="en-GB"/>
              <a:t> Network</a:t>
            </a:r>
            <a:endParaRPr/>
          </a:p>
        </p:txBody>
      </p:sp>
      <p:sp>
        <p:nvSpPr>
          <p:cNvPr id="295" name="Google Shape;29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Learning</a:t>
            </a:r>
            <a:r>
              <a:rPr lang="en-GB"/>
              <a:t> Process of the Neural Network</a:t>
            </a:r>
            <a:endParaRPr/>
          </a:p>
          <a:p>
            <a:pPr indent="-342900" lvl="0" marL="457200" rtl="0" algn="l">
              <a:spcBef>
                <a:spcPts val="0"/>
              </a:spcBef>
              <a:spcAft>
                <a:spcPts val="0"/>
              </a:spcAft>
              <a:buSzPts val="1800"/>
              <a:buAutoNum type="arabicPeriod"/>
            </a:pPr>
            <a:r>
              <a:rPr lang="en-GB"/>
              <a:t>Forward </a:t>
            </a:r>
            <a:r>
              <a:rPr lang="en-GB"/>
              <a:t>Propagation</a:t>
            </a:r>
            <a:endParaRPr/>
          </a:p>
          <a:p>
            <a:pPr indent="-342900" lvl="0" marL="457200" rtl="0" algn="l">
              <a:spcBef>
                <a:spcPts val="0"/>
              </a:spcBef>
              <a:spcAft>
                <a:spcPts val="0"/>
              </a:spcAft>
              <a:buSzPts val="1800"/>
              <a:buAutoNum type="arabicPeriod"/>
            </a:pPr>
            <a:r>
              <a:rPr lang="en-GB"/>
              <a:t>Back </a:t>
            </a:r>
            <a:r>
              <a:rPr lang="en-GB"/>
              <a:t>Propagation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Forward </a:t>
            </a:r>
            <a:r>
              <a:rPr lang="en-GB"/>
              <a:t>Propagation</a:t>
            </a:r>
            <a:endParaRPr/>
          </a:p>
        </p:txBody>
      </p:sp>
      <p:sp>
        <p:nvSpPr>
          <p:cNvPr id="301" name="Google Shape;301;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2" name="Google Shape;302;p44"/>
          <p:cNvPicPr preferRelativeResize="0"/>
          <p:nvPr/>
        </p:nvPicPr>
        <p:blipFill>
          <a:blip r:embed="rId3">
            <a:alphaModFix/>
          </a:blip>
          <a:stretch>
            <a:fillRect/>
          </a:stretch>
        </p:blipFill>
        <p:spPr>
          <a:xfrm>
            <a:off x="67870" y="0"/>
            <a:ext cx="9008262" cy="5143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Weights and Biases</a:t>
            </a:r>
            <a:endParaRPr/>
          </a:p>
        </p:txBody>
      </p:sp>
      <p:sp>
        <p:nvSpPr>
          <p:cNvPr id="308" name="Google Shape;30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GB"/>
              <a:t>Weights -</a:t>
            </a:r>
            <a:r>
              <a:rPr lang="en-GB"/>
              <a:t> How important </a:t>
            </a:r>
            <a:r>
              <a:rPr lang="en-GB"/>
              <a:t>information</a:t>
            </a:r>
            <a:r>
              <a:rPr lang="en-GB"/>
              <a:t> can this </a:t>
            </a:r>
            <a:r>
              <a:rPr lang="en-GB"/>
              <a:t>neural</a:t>
            </a:r>
            <a:r>
              <a:rPr lang="en-GB"/>
              <a:t> network can get</a:t>
            </a:r>
            <a:endParaRPr/>
          </a:p>
          <a:p>
            <a:pPr indent="-342900" lvl="0" marL="457200" rtl="0" algn="l">
              <a:spcBef>
                <a:spcPts val="0"/>
              </a:spcBef>
              <a:spcAft>
                <a:spcPts val="0"/>
              </a:spcAft>
              <a:buSzPts val="1800"/>
              <a:buChar char="●"/>
            </a:pPr>
            <a:r>
              <a:rPr b="1" lang="en-GB"/>
              <a:t>Bias - </a:t>
            </a:r>
            <a:r>
              <a:rPr lang="en-GB"/>
              <a:t>allow the right </a:t>
            </a:r>
            <a:r>
              <a:rPr lang="en-GB"/>
              <a:t>decision</a:t>
            </a:r>
            <a:r>
              <a:rPr lang="en-GB"/>
              <a:t> to be taken into consideration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Back </a:t>
            </a:r>
            <a:r>
              <a:rPr lang="en-GB"/>
              <a:t>Propagation</a:t>
            </a:r>
            <a:endParaRPr/>
          </a:p>
        </p:txBody>
      </p:sp>
      <p:sp>
        <p:nvSpPr>
          <p:cNvPr id="314" name="Google Shape;31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Feedback loop</a:t>
            </a:r>
            <a:endParaRPr/>
          </a:p>
        </p:txBody>
      </p:sp>
      <p:pic>
        <p:nvPicPr>
          <p:cNvPr id="315" name="Google Shape;315;p46"/>
          <p:cNvPicPr preferRelativeResize="0"/>
          <p:nvPr/>
        </p:nvPicPr>
        <p:blipFill>
          <a:blip r:embed="rId3">
            <a:alphaModFix/>
          </a:blip>
          <a:stretch>
            <a:fillRect/>
          </a:stretch>
        </p:blipFill>
        <p:spPr>
          <a:xfrm>
            <a:off x="67870" y="0"/>
            <a:ext cx="9008262" cy="5143500"/>
          </a:xfrm>
          <a:prstGeom prst="rect">
            <a:avLst/>
          </a:prstGeom>
          <a:noFill/>
          <a:ln>
            <a:noFill/>
          </a:ln>
        </p:spPr>
      </p:pic>
      <p:sp>
        <p:nvSpPr>
          <p:cNvPr id="316" name="Google Shape;316;p46"/>
          <p:cNvSpPr/>
          <p:nvPr/>
        </p:nvSpPr>
        <p:spPr>
          <a:xfrm>
            <a:off x="1057975" y="891725"/>
            <a:ext cx="6982800" cy="10128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1000"/>
                                        <p:tgtEl>
                                          <p:spTgt spid="31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 </a:t>
            </a:r>
            <a:r>
              <a:rPr lang="en-GB"/>
              <a:t>Backpropagation</a:t>
            </a:r>
            <a:endParaRPr/>
          </a:p>
        </p:txBody>
      </p:sp>
      <p:sp>
        <p:nvSpPr>
          <p:cNvPr id="322" name="Google Shape;32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Loss</a:t>
            </a:r>
            <a:r>
              <a:rPr lang="en-GB"/>
              <a:t> </a:t>
            </a:r>
            <a:r>
              <a:rPr lang="en-GB"/>
              <a:t>function</a:t>
            </a:r>
            <a:r>
              <a:rPr lang="en-GB"/>
              <a:t> helps </a:t>
            </a:r>
            <a:r>
              <a:rPr lang="en-GB"/>
              <a:t>the Neural</a:t>
            </a:r>
            <a:r>
              <a:rPr lang="en-GB"/>
              <a:t> Network </a:t>
            </a:r>
            <a:r>
              <a:rPr lang="en-GB"/>
              <a:t>Quantify</a:t>
            </a:r>
            <a:r>
              <a:rPr lang="en-GB"/>
              <a:t> the deviation </a:t>
            </a:r>
            <a:r>
              <a:rPr lang="en-GB"/>
              <a:t>front</a:t>
            </a:r>
            <a:r>
              <a:rPr lang="en-GB"/>
              <a:t> he expected output.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Randomly</a:t>
            </a:r>
            <a:r>
              <a:rPr lang="en-GB"/>
              <a:t> Initialize the Parameters</a:t>
            </a:r>
            <a:endParaRPr/>
          </a:p>
        </p:txBody>
      </p:sp>
      <p:pic>
        <p:nvPicPr>
          <p:cNvPr id="328" name="Google Shape;328;p48"/>
          <p:cNvPicPr preferRelativeResize="0"/>
          <p:nvPr/>
        </p:nvPicPr>
        <p:blipFill>
          <a:blip r:embed="rId3">
            <a:alphaModFix/>
          </a:blip>
          <a:stretch>
            <a:fillRect/>
          </a:stretch>
        </p:blipFill>
        <p:spPr>
          <a:xfrm>
            <a:off x="2286000" y="1285875"/>
            <a:ext cx="4572000" cy="2571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Back </a:t>
            </a:r>
            <a:r>
              <a:rPr lang="en-GB"/>
              <a:t>Propagation</a:t>
            </a:r>
            <a:endParaRPr/>
          </a:p>
        </p:txBody>
      </p:sp>
      <p:sp>
        <p:nvSpPr>
          <p:cNvPr id="334" name="Google Shape;33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Use of the Loss Function</a:t>
            </a:r>
            <a:endParaRPr/>
          </a:p>
          <a:p>
            <a:pPr indent="-342900" lvl="0" marL="457200" rtl="0" algn="l">
              <a:spcBef>
                <a:spcPts val="0"/>
              </a:spcBef>
              <a:spcAft>
                <a:spcPts val="0"/>
              </a:spcAft>
              <a:buSzPts val="1800"/>
              <a:buChar char="●"/>
            </a:pPr>
            <a:r>
              <a:rPr lang="en-GB"/>
              <a:t>Go Backwards and self tune the </a:t>
            </a:r>
            <a:r>
              <a:rPr lang="en-GB"/>
              <a:t>initial</a:t>
            </a:r>
            <a:r>
              <a:rPr lang="en-GB"/>
              <a:t> </a:t>
            </a:r>
            <a:r>
              <a:rPr lang="en-GB"/>
              <a:t>weights</a:t>
            </a:r>
            <a:r>
              <a:rPr lang="en-GB"/>
              <a:t> and biases</a:t>
            </a:r>
            <a:endParaRPr/>
          </a:p>
          <a:p>
            <a:pPr indent="-342900" lvl="0" marL="457200" rtl="0" algn="l">
              <a:spcBef>
                <a:spcPts val="0"/>
              </a:spcBef>
              <a:spcAft>
                <a:spcPts val="0"/>
              </a:spcAft>
              <a:buSzPts val="1800"/>
              <a:buChar char="●"/>
            </a:pPr>
            <a:r>
              <a:rPr lang="en-GB"/>
              <a:t>Values adjusted to better fit prediction of the model that is trained from </a:t>
            </a:r>
            <a:r>
              <a:rPr lang="en-GB"/>
              <a:t>the</a:t>
            </a:r>
            <a:r>
              <a:rPr lang="en-GB"/>
              <a:t> data.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Learning</a:t>
            </a:r>
            <a:r>
              <a:rPr lang="en-GB"/>
              <a:t> </a:t>
            </a:r>
            <a:r>
              <a:rPr lang="en-GB"/>
              <a:t>Algorithm</a:t>
            </a:r>
            <a:r>
              <a:rPr lang="en-GB"/>
              <a:t> for the Neural Network</a:t>
            </a:r>
            <a:endParaRPr/>
          </a:p>
        </p:txBody>
      </p:sp>
      <p:sp>
        <p:nvSpPr>
          <p:cNvPr id="340" name="Google Shape;340;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Initialize the </a:t>
            </a:r>
            <a:r>
              <a:rPr lang="en-GB"/>
              <a:t>parameters</a:t>
            </a:r>
            <a:r>
              <a:rPr lang="en-GB"/>
              <a:t> with some tuned and calculated value.</a:t>
            </a:r>
            <a:endParaRPr/>
          </a:p>
          <a:p>
            <a:pPr indent="-342900" lvl="0" marL="457200" rtl="0" algn="l">
              <a:spcBef>
                <a:spcPts val="0"/>
              </a:spcBef>
              <a:spcAft>
                <a:spcPts val="0"/>
              </a:spcAft>
              <a:buSzPts val="1800"/>
              <a:buChar char="●"/>
            </a:pPr>
            <a:r>
              <a:rPr lang="en-GB"/>
              <a:t>Feed Input data to the Network</a:t>
            </a:r>
            <a:endParaRPr/>
          </a:p>
          <a:p>
            <a:pPr indent="-342900" lvl="0" marL="457200" rtl="0" algn="l">
              <a:spcBef>
                <a:spcPts val="0"/>
              </a:spcBef>
              <a:spcAft>
                <a:spcPts val="0"/>
              </a:spcAft>
              <a:buSzPts val="1800"/>
              <a:buChar char="●"/>
            </a:pPr>
            <a:r>
              <a:rPr lang="en-GB"/>
              <a:t>Compare the Predicted value </a:t>
            </a:r>
            <a:r>
              <a:rPr lang="en-GB"/>
              <a:t>with</a:t>
            </a:r>
            <a:r>
              <a:rPr lang="en-GB"/>
              <a:t> the </a:t>
            </a:r>
            <a:r>
              <a:rPr lang="en-GB"/>
              <a:t>expected</a:t>
            </a:r>
            <a:r>
              <a:rPr lang="en-GB"/>
              <a:t> data and </a:t>
            </a:r>
            <a:r>
              <a:rPr lang="en-GB"/>
              <a:t>calculate</a:t>
            </a:r>
            <a:r>
              <a:rPr lang="en-GB"/>
              <a:t> loss</a:t>
            </a:r>
            <a:endParaRPr/>
          </a:p>
          <a:p>
            <a:pPr indent="-342900" lvl="0" marL="457200" rtl="0" algn="l">
              <a:spcBef>
                <a:spcPts val="0"/>
              </a:spcBef>
              <a:spcAft>
                <a:spcPts val="0"/>
              </a:spcAft>
              <a:buSzPts val="1800"/>
              <a:buChar char="●"/>
            </a:pPr>
            <a:r>
              <a:rPr lang="en-GB"/>
              <a:t>Perform </a:t>
            </a:r>
            <a:r>
              <a:rPr lang="en-GB"/>
              <a:t>Backpropagation</a:t>
            </a:r>
            <a:r>
              <a:rPr lang="en-GB"/>
              <a:t> to </a:t>
            </a:r>
            <a:r>
              <a:rPr lang="en-GB"/>
              <a:t>propagate</a:t>
            </a:r>
            <a:r>
              <a:rPr lang="en-GB"/>
              <a:t> this loss back </a:t>
            </a:r>
            <a:r>
              <a:rPr lang="en-GB"/>
              <a:t>through the</a:t>
            </a:r>
            <a:r>
              <a:rPr lang="en-GB"/>
              <a:t> network.</a:t>
            </a:r>
            <a:endParaRPr/>
          </a:p>
          <a:p>
            <a:pPr indent="-342900" lvl="0" marL="457200" rtl="0" algn="l">
              <a:spcBef>
                <a:spcPts val="0"/>
              </a:spcBef>
              <a:spcAft>
                <a:spcPts val="0"/>
              </a:spcAft>
              <a:buSzPts val="1800"/>
              <a:buChar char="●"/>
            </a:pPr>
            <a:r>
              <a:rPr lang="en-GB"/>
              <a:t>Update </a:t>
            </a:r>
            <a:r>
              <a:rPr lang="en-GB"/>
              <a:t>parameters</a:t>
            </a:r>
            <a:r>
              <a:rPr lang="en-GB"/>
              <a:t> </a:t>
            </a:r>
            <a:r>
              <a:rPr lang="en-GB"/>
              <a:t>based</a:t>
            </a:r>
            <a:r>
              <a:rPr lang="en-GB"/>
              <a:t> </a:t>
            </a:r>
            <a:r>
              <a:rPr lang="en-GB"/>
              <a:t>on</a:t>
            </a:r>
            <a:r>
              <a:rPr lang="en-GB"/>
              <a:t> </a:t>
            </a:r>
            <a:r>
              <a:rPr lang="en-GB"/>
              <a:t>the</a:t>
            </a:r>
            <a:r>
              <a:rPr lang="en-GB"/>
              <a:t> loss</a:t>
            </a:r>
            <a:endParaRPr/>
          </a:p>
          <a:p>
            <a:pPr indent="-342900" lvl="0" marL="457200" rtl="0" algn="l">
              <a:spcBef>
                <a:spcPts val="0"/>
              </a:spcBef>
              <a:spcAft>
                <a:spcPts val="0"/>
              </a:spcAft>
              <a:buSzPts val="1800"/>
              <a:buChar char="●"/>
            </a:pPr>
            <a:r>
              <a:rPr lang="en-GB"/>
              <a:t>Iterate the previous steps till the loss is minimized.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Terms </a:t>
            </a:r>
            <a:r>
              <a:rPr lang="en-GB"/>
              <a:t>used</a:t>
            </a:r>
            <a:r>
              <a:rPr lang="en-GB"/>
              <a:t> in the Neural Network</a:t>
            </a:r>
            <a:endParaRPr/>
          </a:p>
        </p:txBody>
      </p:sp>
      <p:sp>
        <p:nvSpPr>
          <p:cNvPr id="346" name="Google Shape;346;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Activation </a:t>
            </a:r>
            <a:r>
              <a:rPr lang="en-GB"/>
              <a:t>Function</a:t>
            </a:r>
            <a:endParaRPr/>
          </a:p>
          <a:p>
            <a:pPr indent="-342900" lvl="0" marL="457200" rtl="0" algn="l">
              <a:spcBef>
                <a:spcPts val="1200"/>
              </a:spcBef>
              <a:spcAft>
                <a:spcPts val="0"/>
              </a:spcAft>
              <a:buSzPts val="1800"/>
              <a:buChar char="●"/>
            </a:pPr>
            <a:r>
              <a:rPr lang="en-GB"/>
              <a:t>Helps to decide whether a Neuron can be a drop out or can contribute to the next layer based on the dataset that it is trained on.</a:t>
            </a:r>
            <a:endParaRPr/>
          </a:p>
          <a:p>
            <a:pPr indent="-342900" lvl="0" marL="457200" rtl="0" algn="l">
              <a:spcBef>
                <a:spcPts val="0"/>
              </a:spcBef>
              <a:spcAft>
                <a:spcPts val="0"/>
              </a:spcAft>
              <a:buSzPts val="1800"/>
              <a:buChar char="●"/>
            </a:pPr>
            <a:r>
              <a:rPr lang="en-GB"/>
              <a:t>Introduce non linearity into the Neural Network.</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2" name="Google Shape;352;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3" name="Google Shape;353;p52"/>
          <p:cNvPicPr preferRelativeResize="0"/>
          <p:nvPr/>
        </p:nvPicPr>
        <p:blipFill>
          <a:blip r:embed="rId3">
            <a:alphaModFix/>
          </a:blip>
          <a:stretch>
            <a:fillRect/>
          </a:stretch>
        </p:blipFill>
        <p:spPr>
          <a:xfrm>
            <a:off x="923925" y="566738"/>
            <a:ext cx="7296150" cy="4010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9" name="Google Shape;359;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0" name="Google Shape;360;p53"/>
          <p:cNvPicPr preferRelativeResize="0"/>
          <p:nvPr/>
        </p:nvPicPr>
        <p:blipFill>
          <a:blip r:embed="rId3">
            <a:alphaModFix/>
          </a:blip>
          <a:stretch>
            <a:fillRect/>
          </a:stretch>
        </p:blipFill>
        <p:spPr>
          <a:xfrm>
            <a:off x="1956834" y="0"/>
            <a:ext cx="5230331" cy="51434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6" name="Google Shape;36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7" name="Google Shape;367;p54"/>
          <p:cNvPicPr preferRelativeResize="0"/>
          <p:nvPr/>
        </p:nvPicPr>
        <p:blipFill>
          <a:blip r:embed="rId3">
            <a:alphaModFix/>
          </a:blip>
          <a:stretch>
            <a:fillRect/>
          </a:stretch>
        </p:blipFill>
        <p:spPr>
          <a:xfrm>
            <a:off x="819150" y="0"/>
            <a:ext cx="7505700" cy="514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Which Activation </a:t>
            </a:r>
            <a:r>
              <a:rPr lang="en-GB"/>
              <a:t>Function</a:t>
            </a:r>
            <a:r>
              <a:rPr lang="en-GB"/>
              <a:t> to use?</a:t>
            </a:r>
            <a:endParaRPr/>
          </a:p>
        </p:txBody>
      </p:sp>
      <p:sp>
        <p:nvSpPr>
          <p:cNvPr id="373" name="Google Shape;373;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For the Binary Classification: Sigmoid or the Relu is Used for the best results.</a:t>
            </a:r>
            <a:endParaRPr/>
          </a:p>
          <a:p>
            <a:pPr indent="-342900" lvl="0" marL="457200" rtl="0" algn="l">
              <a:spcBef>
                <a:spcPts val="0"/>
              </a:spcBef>
              <a:spcAft>
                <a:spcPts val="0"/>
              </a:spcAft>
              <a:buSzPts val="1800"/>
              <a:buChar char="●"/>
            </a:pPr>
            <a:r>
              <a:rPr lang="en-GB"/>
              <a:t>In the case of classifiers, sigmoid functions and their combinations often perform better.</a:t>
            </a:r>
            <a:endParaRPr/>
          </a:p>
          <a:p>
            <a:pPr indent="-342900" lvl="0" marL="457200" rtl="0" algn="l">
              <a:spcBef>
                <a:spcPts val="0"/>
              </a:spcBef>
              <a:spcAft>
                <a:spcPts val="0"/>
              </a:spcAft>
              <a:buSzPts val="1800"/>
              <a:buChar char="●"/>
            </a:pPr>
            <a:r>
              <a:rPr lang="en-GB"/>
              <a:t>Because of the vanishing gradient issue, sigmoids and tanh functions are sometimes avoided.</a:t>
            </a:r>
            <a:endParaRPr/>
          </a:p>
          <a:p>
            <a:pPr indent="-342900" lvl="0" marL="457200" rtl="0" algn="l">
              <a:spcBef>
                <a:spcPts val="0"/>
              </a:spcBef>
              <a:spcAft>
                <a:spcPts val="0"/>
              </a:spcAft>
              <a:buSzPts val="1800"/>
              <a:buChar char="●"/>
            </a:pPr>
            <a:r>
              <a:rPr lang="en-GB"/>
              <a:t>The ReLU function is a generic activation function that is employed in the majority of applications these days.</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Activation Function Condition</a:t>
            </a:r>
            <a:endParaRPr/>
          </a:p>
        </p:txBody>
      </p:sp>
      <p:sp>
        <p:nvSpPr>
          <p:cNvPr id="379" name="Google Shape;379;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If we have dead neurons in our networks, the leaky ReLU function is the best option.</a:t>
            </a:r>
            <a:endParaRPr/>
          </a:p>
          <a:p>
            <a:pPr indent="-342900" lvl="0" marL="457200" rtl="0" algn="l">
              <a:spcBef>
                <a:spcPts val="0"/>
              </a:spcBef>
              <a:spcAft>
                <a:spcPts val="0"/>
              </a:spcAft>
              <a:buSzPts val="1800"/>
              <a:buChar char="●"/>
            </a:pPr>
            <a:r>
              <a:rPr lang="en-GB"/>
              <a:t>Remember that the ReLU function should only be utilised in the hidden layers.</a:t>
            </a:r>
            <a:endParaRPr/>
          </a:p>
          <a:p>
            <a:pPr indent="-342900" lvl="0" marL="457200" rtl="0" algn="l">
              <a:spcBef>
                <a:spcPts val="0"/>
              </a:spcBef>
              <a:spcAft>
                <a:spcPts val="0"/>
              </a:spcAft>
              <a:buSzPts val="1800"/>
              <a:buChar char="●"/>
            </a:pPr>
            <a:r>
              <a:rPr lang="en-GB"/>
              <a:t>As a general guideline, you should start with the ReLU function and then go on to other activation functions if the ReLU function does not produce the best results.</a:t>
            </a:r>
            <a:endParaRPr/>
          </a:p>
          <a:p>
            <a:pPr indent="0" lvl="0" marL="0" rtl="0" algn="l">
              <a:spcBef>
                <a:spcPts val="120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king here is the data nad queen also</a:t>
            </a:r>
            <a:endParaRPr/>
          </a:p>
        </p:txBody>
      </p:sp>
      <p:sp>
        <p:nvSpPr>
          <p:cNvPr id="385" name="Google Shape;385;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No matter what you are training a model using a dataset that is </a:t>
            </a:r>
            <a:r>
              <a:rPr lang="en-GB"/>
              <a:t>available</a:t>
            </a:r>
            <a:r>
              <a:rPr lang="en-GB"/>
              <a:t> for you,Neural </a:t>
            </a:r>
            <a:r>
              <a:rPr lang="en-GB"/>
              <a:t>Network</a:t>
            </a:r>
            <a:r>
              <a:rPr lang="en-GB"/>
              <a:t> is as it becomes.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Loss Function</a:t>
            </a:r>
            <a:endParaRPr/>
          </a:p>
        </p:txBody>
      </p:sp>
      <p:sp>
        <p:nvSpPr>
          <p:cNvPr id="391" name="Google Shape;391;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We know that from the Random Weights and Biases the Neural </a:t>
            </a:r>
            <a:r>
              <a:rPr lang="en-GB"/>
              <a:t>Network</a:t>
            </a:r>
            <a:r>
              <a:rPr lang="en-GB"/>
              <a:t> Makes </a:t>
            </a:r>
            <a:r>
              <a:rPr lang="en-GB"/>
              <a:t>decision - Expected Output ,Weights and Biases are calculated.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Thus they Quantify the deviation of the predicted output by the NEural NEtwork to the expected output.</a:t>
            </a:r>
            <a:endParaRPr/>
          </a:p>
        </p:txBody>
      </p:sp>
      <p:sp>
        <p:nvSpPr>
          <p:cNvPr id="392" name="Google Shape;392;p58"/>
          <p:cNvSpPr txBox="1"/>
          <p:nvPr/>
        </p:nvSpPr>
        <p:spPr>
          <a:xfrm>
            <a:off x="4236700" y="37165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50">
              <a:solidFill>
                <a:srgbClr val="3C4043"/>
              </a:solidFill>
              <a:highlight>
                <a:srgbClr val="FFFFFF"/>
              </a:highlight>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loss functions in Regression are</a:t>
            </a:r>
            <a:endParaRPr/>
          </a:p>
        </p:txBody>
      </p:sp>
      <p:sp>
        <p:nvSpPr>
          <p:cNvPr id="398" name="Google Shape;39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Absolute Error Loss</a:t>
            </a:r>
            <a:endParaRPr/>
          </a:p>
          <a:p>
            <a:pPr indent="-342900" lvl="0" marL="457200" rtl="0" algn="l">
              <a:spcBef>
                <a:spcPts val="0"/>
              </a:spcBef>
              <a:spcAft>
                <a:spcPts val="0"/>
              </a:spcAft>
              <a:buSzPts val="1800"/>
              <a:buChar char="●"/>
            </a:pPr>
            <a:r>
              <a:rPr lang="en-GB"/>
              <a:t>Huber Loss</a:t>
            </a:r>
            <a:endParaRPr/>
          </a:p>
          <a:p>
            <a:pPr indent="-342900" lvl="0" marL="457200" rtl="0" algn="l">
              <a:spcBef>
                <a:spcPts val="0"/>
              </a:spcBef>
              <a:spcAft>
                <a:spcPts val="0"/>
              </a:spcAft>
              <a:buSzPts val="1800"/>
              <a:buChar char="●"/>
            </a:pPr>
            <a:r>
              <a:rPr lang="en-GB"/>
              <a:t>Squared Error Loss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loss Function in Binary Classification</a:t>
            </a:r>
            <a:endParaRPr/>
          </a:p>
        </p:txBody>
      </p:sp>
      <p:sp>
        <p:nvSpPr>
          <p:cNvPr id="404" name="Google Shape;404;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Binary Cross </a:t>
            </a:r>
            <a:r>
              <a:rPr lang="en-GB"/>
              <a:t>Entropy</a:t>
            </a:r>
            <a:endParaRPr/>
          </a:p>
          <a:p>
            <a:pPr indent="0" lvl="0" marL="0" rtl="0" algn="l">
              <a:spcBef>
                <a:spcPts val="1200"/>
              </a:spcBef>
              <a:spcAft>
                <a:spcPts val="1200"/>
              </a:spcAft>
              <a:buNone/>
            </a:pPr>
            <a:r>
              <a:rPr lang="en-GB"/>
              <a:t>Hinge Loss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Multi Class Classification loss functions</a:t>
            </a:r>
            <a:endParaRPr/>
          </a:p>
        </p:txBody>
      </p:sp>
      <p:sp>
        <p:nvSpPr>
          <p:cNvPr id="410" name="Google Shape;410;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Multi-Class Cross Entropy Loss</a:t>
            </a:r>
            <a:endParaRPr/>
          </a:p>
          <a:p>
            <a:pPr indent="0" lvl="0" marL="0" rtl="0" algn="l">
              <a:spcBef>
                <a:spcPts val="1200"/>
              </a:spcBef>
              <a:spcAft>
                <a:spcPts val="1200"/>
              </a:spcAft>
              <a:buNone/>
            </a:pPr>
            <a:r>
              <a:rPr lang="en-GB"/>
              <a:t>KL(</a:t>
            </a:r>
            <a:r>
              <a:rPr lang="en-GB"/>
              <a:t>Kullback–Leibler) </a:t>
            </a:r>
            <a:r>
              <a:rPr lang="en-GB"/>
              <a:t>Divergence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Optimizers</a:t>
            </a:r>
            <a:endParaRPr/>
          </a:p>
        </p:txBody>
      </p:sp>
      <p:sp>
        <p:nvSpPr>
          <p:cNvPr id="416" name="Google Shape;416;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During the Training process we will adjust the parameters </a:t>
            </a:r>
            <a:r>
              <a:rPr lang="en-GB"/>
              <a:t>to</a:t>
            </a:r>
            <a:r>
              <a:rPr lang="en-GB"/>
              <a:t> minimize the loss function and make our model as optimized as possible for the Use.</a:t>
            </a:r>
            <a:endParaRPr/>
          </a:p>
        </p:txBody>
      </p:sp>
      <p:pic>
        <p:nvPicPr>
          <p:cNvPr id="417" name="Google Shape;417;p62"/>
          <p:cNvPicPr preferRelativeResize="0"/>
          <p:nvPr/>
        </p:nvPicPr>
        <p:blipFill>
          <a:blip r:embed="rId3">
            <a:alphaModFix/>
          </a:blip>
          <a:stretch>
            <a:fillRect/>
          </a:stretch>
        </p:blipFill>
        <p:spPr>
          <a:xfrm>
            <a:off x="5786900" y="2571738"/>
            <a:ext cx="2647950" cy="1724025"/>
          </a:xfrm>
          <a:prstGeom prst="rect">
            <a:avLst/>
          </a:prstGeom>
          <a:noFill/>
          <a:ln>
            <a:noFill/>
          </a:ln>
        </p:spPr>
      </p:pic>
      <p:pic>
        <p:nvPicPr>
          <p:cNvPr id="418" name="Google Shape;418;p62"/>
          <p:cNvPicPr preferRelativeResize="0"/>
          <p:nvPr/>
        </p:nvPicPr>
        <p:blipFill>
          <a:blip r:embed="rId4">
            <a:alphaModFix/>
          </a:blip>
          <a:stretch>
            <a:fillRect/>
          </a:stretch>
        </p:blipFill>
        <p:spPr>
          <a:xfrm>
            <a:off x="593425" y="2147888"/>
            <a:ext cx="4572000" cy="25717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Optimizers are basically </a:t>
            </a:r>
            <a:endParaRPr/>
          </a:p>
        </p:txBody>
      </p:sp>
      <p:sp>
        <p:nvSpPr>
          <p:cNvPr id="424" name="Google Shape;424;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 function that combines to the loss </a:t>
            </a:r>
            <a:r>
              <a:rPr lang="en-GB"/>
              <a:t>function</a:t>
            </a:r>
            <a:r>
              <a:rPr lang="en-GB"/>
              <a:t> and model parameters by updating </a:t>
            </a:r>
            <a:r>
              <a:rPr lang="en-GB"/>
              <a:t>the Neural</a:t>
            </a:r>
            <a:r>
              <a:rPr lang="en-GB"/>
              <a:t> Network based on the output of the Loss Function.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Gradient Descent</a:t>
            </a:r>
            <a:endParaRPr/>
          </a:p>
        </p:txBody>
      </p:sp>
      <p:sp>
        <p:nvSpPr>
          <p:cNvPr id="430" name="Google Shape;430;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Iterative</a:t>
            </a:r>
            <a:r>
              <a:rPr lang="en-GB"/>
              <a:t> </a:t>
            </a:r>
            <a:r>
              <a:rPr lang="en-GB"/>
              <a:t>function</a:t>
            </a:r>
            <a:r>
              <a:rPr lang="en-GB"/>
              <a:t> that starts off at a random </a:t>
            </a:r>
            <a:r>
              <a:rPr lang="en-GB"/>
              <a:t>Point</a:t>
            </a:r>
            <a:r>
              <a:rPr lang="en-GB"/>
              <a:t> on the loss </a:t>
            </a:r>
            <a:r>
              <a:rPr lang="en-GB"/>
              <a:t>function</a:t>
            </a:r>
            <a:r>
              <a:rPr lang="en-GB"/>
              <a:t> and travel down its slope in steps(learning rate -from user) </a:t>
            </a:r>
            <a:r>
              <a:rPr lang="en-GB"/>
              <a:t>until</a:t>
            </a:r>
            <a:r>
              <a:rPr lang="en-GB"/>
              <a:t> it reaches the lowest point of the function.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GB"/>
              <a:t>Again this depends </a:t>
            </a:r>
            <a:r>
              <a:rPr lang="en-GB"/>
              <a:t>on the</a:t>
            </a:r>
            <a:r>
              <a:rPr lang="en-GB"/>
              <a:t> data.but they are</a:t>
            </a:r>
            <a:endParaRPr/>
          </a:p>
          <a:p>
            <a:pPr indent="-342900" lvl="0" marL="457200" rtl="0" algn="l">
              <a:spcBef>
                <a:spcPts val="0"/>
              </a:spcBef>
              <a:spcAft>
                <a:spcPts val="0"/>
              </a:spcAft>
              <a:buSzPts val="1800"/>
              <a:buAutoNum type="arabicPeriod"/>
            </a:pPr>
            <a:r>
              <a:rPr lang="en-GB"/>
              <a:t>Most popular optimizer</a:t>
            </a:r>
            <a:endParaRPr/>
          </a:p>
          <a:p>
            <a:pPr indent="-342900" lvl="0" marL="457200" rtl="0" algn="l">
              <a:spcBef>
                <a:spcPts val="0"/>
              </a:spcBef>
              <a:spcAft>
                <a:spcPts val="0"/>
              </a:spcAft>
              <a:buSzPts val="1800"/>
              <a:buAutoNum type="arabicPeriod"/>
            </a:pPr>
            <a:r>
              <a:rPr lang="en-GB"/>
              <a:t>Fast,Robust,Flexible.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Algorithm in the Lay man Terms</a:t>
            </a:r>
            <a:endParaRPr/>
          </a:p>
        </p:txBody>
      </p:sp>
      <p:sp>
        <p:nvSpPr>
          <p:cNvPr id="436" name="Google Shape;436;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Calculate what a small change in the each </a:t>
            </a:r>
            <a:r>
              <a:rPr lang="en-GB"/>
              <a:t>individual</a:t>
            </a:r>
            <a:r>
              <a:rPr lang="en-GB"/>
              <a:t> weights would do </a:t>
            </a:r>
            <a:r>
              <a:rPr lang="en-GB"/>
              <a:t>to the</a:t>
            </a:r>
            <a:r>
              <a:rPr lang="en-GB"/>
              <a:t> loss function</a:t>
            </a:r>
            <a:endParaRPr/>
          </a:p>
          <a:p>
            <a:pPr indent="-342900" lvl="0" marL="457200" rtl="0" algn="l">
              <a:spcBef>
                <a:spcPts val="0"/>
              </a:spcBef>
              <a:spcAft>
                <a:spcPts val="0"/>
              </a:spcAft>
              <a:buSzPts val="1800"/>
              <a:buAutoNum type="arabicPeriod"/>
            </a:pPr>
            <a:r>
              <a:rPr lang="en-GB"/>
              <a:t>Adjust each </a:t>
            </a:r>
            <a:r>
              <a:rPr lang="en-GB"/>
              <a:t>parameter</a:t>
            </a:r>
            <a:r>
              <a:rPr lang="en-GB"/>
              <a:t> based int eh its gradient(</a:t>
            </a:r>
            <a:r>
              <a:rPr lang="en-GB"/>
              <a:t>differential</a:t>
            </a:r>
            <a:r>
              <a:rPr lang="en-GB"/>
              <a:t>)</a:t>
            </a:r>
            <a:endParaRPr/>
          </a:p>
          <a:p>
            <a:pPr indent="-342900" lvl="0" marL="457200" rtl="0" algn="l">
              <a:spcBef>
                <a:spcPts val="0"/>
              </a:spcBef>
              <a:spcAft>
                <a:spcPts val="0"/>
              </a:spcAft>
              <a:buSzPts val="1800"/>
              <a:buAutoNum type="arabicPeriod"/>
            </a:pPr>
            <a:r>
              <a:rPr lang="en-GB"/>
              <a:t>Repeat Steps one and Two </a:t>
            </a:r>
            <a:r>
              <a:rPr lang="en-GB"/>
              <a:t>until</a:t>
            </a:r>
            <a:r>
              <a:rPr lang="en-GB"/>
              <a:t> lower loss function is </a:t>
            </a:r>
            <a:r>
              <a:rPr lang="en-GB"/>
              <a:t>calculated</a:t>
            </a:r>
            <a:r>
              <a:rPr lang="en-GB"/>
              <a:t> by the Neural Network.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42" name="Google Shape;442;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3" name="Google Shape;443;p66"/>
          <p:cNvPicPr preferRelativeResize="0"/>
          <p:nvPr/>
        </p:nvPicPr>
        <p:blipFill>
          <a:blip r:embed="rId3">
            <a:alphaModFix/>
          </a:blip>
          <a:stretch>
            <a:fillRect/>
          </a:stretch>
        </p:blipFill>
        <p:spPr>
          <a:xfrm>
            <a:off x="278837" y="0"/>
            <a:ext cx="8586328" cy="5143501"/>
          </a:xfrm>
          <a:prstGeom prst="rect">
            <a:avLst/>
          </a:prstGeom>
          <a:noFill/>
          <a:ln>
            <a:noFill/>
          </a:ln>
        </p:spPr>
      </p:pic>
      <p:pic>
        <p:nvPicPr>
          <p:cNvPr id="444" name="Google Shape;444;p66"/>
          <p:cNvPicPr preferRelativeResize="0"/>
          <p:nvPr/>
        </p:nvPicPr>
        <p:blipFill>
          <a:blip r:embed="rId4">
            <a:alphaModFix/>
          </a:blip>
          <a:stretch>
            <a:fillRect/>
          </a:stretch>
        </p:blipFill>
        <p:spPr>
          <a:xfrm>
            <a:off x="1443713" y="152400"/>
            <a:ext cx="6561373"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 </a:t>
            </a:r>
            <a:r>
              <a:rPr lang="en-GB"/>
              <a:t>avoid</a:t>
            </a:r>
            <a:r>
              <a:rPr lang="en-GB"/>
              <a:t> </a:t>
            </a:r>
            <a:r>
              <a:rPr lang="en-GB"/>
              <a:t>getting</a:t>
            </a:r>
            <a:r>
              <a:rPr lang="en-GB"/>
              <a:t> stuck in the local minima</a:t>
            </a:r>
            <a:endParaRPr/>
          </a:p>
        </p:txBody>
      </p:sp>
      <p:sp>
        <p:nvSpPr>
          <p:cNvPr id="450" name="Google Shape;450;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We use Learning Rate</a:t>
            </a:r>
            <a:endParaRPr/>
          </a:p>
          <a:p>
            <a:pPr indent="-342900" lvl="0" marL="457200" rtl="0" algn="l">
              <a:spcBef>
                <a:spcPts val="1200"/>
              </a:spcBef>
              <a:spcAft>
                <a:spcPts val="0"/>
              </a:spcAft>
              <a:buSzPts val="1800"/>
              <a:buChar char="●"/>
            </a:pPr>
            <a:r>
              <a:rPr lang="en-GB"/>
              <a:t>Usually a small number that is multiplied to the scale of the gradients,which is any changes made to the weights are quite small.</a:t>
            </a:r>
            <a:endParaRPr/>
          </a:p>
          <a:p>
            <a:pPr indent="-342900" lvl="0" marL="457200" rtl="0" algn="l">
              <a:spcBef>
                <a:spcPts val="0"/>
              </a:spcBef>
              <a:spcAft>
                <a:spcPts val="0"/>
              </a:spcAft>
              <a:buSzPts val="1800"/>
              <a:buChar char="●"/>
            </a:pPr>
            <a:r>
              <a:rPr lang="en-GB"/>
              <a:t>If we take large steps as </a:t>
            </a:r>
            <a:r>
              <a:rPr lang="en-GB"/>
              <a:t>learning rate then algorithm will tend to overshoot the global minimum</a:t>
            </a:r>
            <a:endParaRPr/>
          </a:p>
          <a:p>
            <a:pPr indent="-342900" lvl="0" marL="457200" rtl="0" algn="l">
              <a:spcBef>
                <a:spcPts val="0"/>
              </a:spcBef>
              <a:spcAft>
                <a:spcPts val="0"/>
              </a:spcAft>
              <a:buSzPts val="1800"/>
              <a:buChar char="●"/>
            </a:pPr>
            <a:r>
              <a:rPr lang="en-GB"/>
              <a:t>Where we also don't want the algorithm to take forever to train and converge to the Global minimum.</a:t>
            </a:r>
            <a:endParaRPr/>
          </a:p>
          <a:p>
            <a:pPr indent="0" lvl="0" marL="0" rtl="0" algn="l">
              <a:spcBef>
                <a:spcPts val="1200"/>
              </a:spcBef>
              <a:spcAft>
                <a:spcPts val="12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descr="Even though Stochastic Gradient Descent sounds fancy, it is just a simple addition to &quot;regular&quot; Gradient Descent. This video sets up the problem that Stochastic Gradient Descent solves and then shows how it does it. Along the way, we discuss situations where Stochastic Gradient Descent is most useful, and some cool features that aren't that obvious.&#10;&#10;NOTE: There is a small typo at 9:03. The values for the intercept and slope should be the most recent estimates, 0.86 and 0.68, instead of the original random values, 0 and 1.&#10;&#10;NOTE: This StatQuest assumes you already understand &quot;regular&quot; Gradient Descent. If not, check out the 'Quest: https://youtu.be/sDv4f4s2SB8&#10;&#10;When I was researching Stochastic Gradient Descent, I found a ton of cool websites that provided lots of details. Here are some of my favorites:&#10;&#10;Sebastian Ruder has a nice write-up: http://ruder.io/optimizing-gradient-descent/&#10;&#10;...as the Usupervised Feature Learning and Deep Learning Tutorial: http://deeplearning.stanford.edu/tutorial/supervised/OptimizationStochasticGradientDescent/&#10;&#10;⭐ NOTE: When I code, I use Kite, a free AI-powered coding assistant that will help you code faster and smarter. The Kite plugin integrates with all the top editors and IDEs to give you smart completions and documentation while you’re typing. I love it! https://www.kite.com/get-kite/?utm_medium=referral&amp;utm_source=youtube&amp;utm_campaign=statquest&amp;utm_content=description-only&#10;&#10;For a complete index of all the StatQuest videos, check out:&#10;https://statquest.org/video-index/&#10;&#10;If you'd like to support StatQuest, please consider...&#10;Patreon: https://www.patreon.com/statquest&#10;...or...&#10;YouTube Membership: https://www.youtube.com/channel/UCtYLUTtgS3k1Fg4y5tAhLbw/join&#10;&#10;...a cool StatQuest t-shirt or sweatshirt (USA/Europe): https://teespring.com/stores/statquest&#10;(everywhere):&#10;https://www.redbubble.com/people/starmer/works/40421224-statquest-double-bam?asc=u&amp;p=t-shirt&#10;&#10;...buying one or two of my songs (or go large and get a whole album!)&#10;https://joshuastarmer.bandcamp.com/&#10;&#10;...or just donating to StatQuest!&#10;https://www.paypal.me/statquest&#10;&#10;Lastly, if you want to keep up with me as I research and create new StatQuests, follow me on twitter:&#10;https://twitter.com/joshuastarmer&#10;&#10;#statquest #sgd" id="455" name="Google Shape;455;p68" title="Stochastic Gradient Descent, Clearly Explained!!!">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They are more robust ,why?</a:t>
            </a:r>
            <a:endParaRPr/>
          </a:p>
        </p:txBody>
      </p:sp>
      <p:sp>
        <p:nvSpPr>
          <p:cNvPr id="461" name="Google Shape;461;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Like Gradient </a:t>
            </a:r>
            <a:r>
              <a:rPr lang="en-GB"/>
              <a:t>Descent</a:t>
            </a:r>
            <a:r>
              <a:rPr lang="en-GB"/>
              <a:t>,Except uses a subset of </a:t>
            </a:r>
            <a:r>
              <a:rPr lang="en-GB"/>
              <a:t>training</a:t>
            </a:r>
            <a:r>
              <a:rPr lang="en-GB"/>
              <a:t> example </a:t>
            </a:r>
            <a:r>
              <a:rPr lang="en-GB"/>
              <a:t>rather</a:t>
            </a:r>
            <a:r>
              <a:rPr lang="en-GB"/>
              <a:t> than the entire lot.</a:t>
            </a:r>
            <a:endParaRPr/>
          </a:p>
          <a:p>
            <a:pPr indent="-342900" lvl="0" marL="457200" rtl="0" algn="l">
              <a:spcBef>
                <a:spcPts val="0"/>
              </a:spcBef>
              <a:spcAft>
                <a:spcPts val="0"/>
              </a:spcAft>
              <a:buSzPts val="1800"/>
              <a:buChar char="●"/>
            </a:pPr>
            <a:r>
              <a:rPr lang="en-GB"/>
              <a:t>SGD is Gradient descent </a:t>
            </a:r>
            <a:r>
              <a:rPr lang="en-GB"/>
              <a:t>that</a:t>
            </a:r>
            <a:r>
              <a:rPr lang="en-GB"/>
              <a:t> uses batch on each training.</a:t>
            </a:r>
            <a:endParaRPr/>
          </a:p>
          <a:p>
            <a:pPr indent="-342900" lvl="0" marL="457200" rtl="0" algn="l">
              <a:spcBef>
                <a:spcPts val="0"/>
              </a:spcBef>
              <a:spcAft>
                <a:spcPts val="0"/>
              </a:spcAft>
              <a:buSzPts val="1800"/>
              <a:buChar char="●"/>
            </a:pPr>
            <a:r>
              <a:rPr lang="en-GB"/>
              <a:t>Use of the Momentum to Accumulate gradients.</a:t>
            </a:r>
            <a:endParaRPr/>
          </a:p>
          <a:p>
            <a:pPr indent="-342900" lvl="0" marL="457200" rtl="0" algn="l">
              <a:spcBef>
                <a:spcPts val="0"/>
              </a:spcBef>
              <a:spcAft>
                <a:spcPts val="0"/>
              </a:spcAft>
              <a:buSzPts val="1800"/>
              <a:buChar char="●"/>
            </a:pPr>
            <a:r>
              <a:rPr lang="en-GB"/>
              <a:t>Less intensive computation as they are batched.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Backpropagation</a:t>
            </a:r>
            <a:endParaRPr/>
          </a:p>
        </p:txBody>
      </p:sp>
      <p:sp>
        <p:nvSpPr>
          <p:cNvPr id="467" name="Google Shape;467;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 simple implementation of the Gradient descent on the neural network.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AdaGrad</a:t>
            </a:r>
            <a:endParaRPr/>
          </a:p>
        </p:txBody>
      </p:sp>
      <p:sp>
        <p:nvSpPr>
          <p:cNvPr id="473" name="Google Shape;473;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Adaptive learning rate to </a:t>
            </a:r>
            <a:r>
              <a:rPr lang="en-GB"/>
              <a:t>individual</a:t>
            </a:r>
            <a:r>
              <a:rPr lang="en-GB"/>
              <a:t> features.</a:t>
            </a:r>
            <a:endParaRPr/>
          </a:p>
          <a:p>
            <a:pPr indent="-342900" lvl="0" marL="457200" rtl="0" algn="l">
              <a:spcBef>
                <a:spcPts val="0"/>
              </a:spcBef>
              <a:spcAft>
                <a:spcPts val="0"/>
              </a:spcAft>
              <a:buSzPts val="1800"/>
              <a:buChar char="●"/>
            </a:pPr>
            <a:r>
              <a:rPr lang="en-GB"/>
              <a:t>Some weights will have </a:t>
            </a:r>
            <a:r>
              <a:rPr lang="en-GB"/>
              <a:t>different</a:t>
            </a:r>
            <a:r>
              <a:rPr lang="en-GB"/>
              <a:t> learning rates</a:t>
            </a:r>
            <a:endParaRPr/>
          </a:p>
          <a:p>
            <a:pPr indent="-342900" lvl="0" marL="457200" rtl="0" algn="l">
              <a:spcBef>
                <a:spcPts val="0"/>
              </a:spcBef>
              <a:spcAft>
                <a:spcPts val="0"/>
              </a:spcAft>
              <a:buSzPts val="1800"/>
              <a:buChar char="●"/>
            </a:pPr>
            <a:r>
              <a:rPr lang="en-GB"/>
              <a:t>Ideal for the Sparse datasets with many input examples missing</a:t>
            </a:r>
            <a:endParaRPr/>
          </a:p>
          <a:p>
            <a:pPr indent="-342900" lvl="0" marL="457200" rtl="0" algn="l">
              <a:spcBef>
                <a:spcPts val="0"/>
              </a:spcBef>
              <a:spcAft>
                <a:spcPts val="0"/>
              </a:spcAft>
              <a:buSzPts val="1800"/>
              <a:buChar char="●"/>
            </a:pPr>
            <a:r>
              <a:rPr lang="en-GB"/>
              <a:t>Learning rate tends </a:t>
            </a:r>
            <a:r>
              <a:rPr lang="en-GB"/>
              <a:t>to</a:t>
            </a:r>
            <a:r>
              <a:rPr lang="en-GB"/>
              <a:t> get lower </a:t>
            </a:r>
            <a:r>
              <a:rPr lang="en-GB"/>
              <a:t>accordingly</a:t>
            </a:r>
            <a:r>
              <a:rPr lang="en-GB"/>
              <a: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Parameters and </a:t>
            </a:r>
            <a:r>
              <a:rPr lang="en-GB"/>
              <a:t>Hyperparameters</a:t>
            </a:r>
            <a:endParaRPr/>
          </a:p>
        </p:txBody>
      </p:sp>
      <p:sp>
        <p:nvSpPr>
          <p:cNvPr id="479" name="Google Shape;479;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What are </a:t>
            </a:r>
            <a:r>
              <a:rPr lang="en-GB"/>
              <a:t>model</a:t>
            </a:r>
            <a:r>
              <a:rPr lang="en-GB"/>
              <a:t> parameters?</a:t>
            </a:r>
            <a:endParaRPr/>
          </a:p>
          <a:p>
            <a:pPr indent="-342900" lvl="0" marL="457200" rtl="0" algn="l">
              <a:spcBef>
                <a:spcPts val="0"/>
              </a:spcBef>
              <a:spcAft>
                <a:spcPts val="0"/>
              </a:spcAft>
              <a:buSzPts val="1800"/>
              <a:buChar char="●"/>
            </a:pPr>
            <a:r>
              <a:rPr lang="en-GB"/>
              <a:t>Variable</a:t>
            </a:r>
            <a:r>
              <a:rPr lang="en-GB"/>
              <a:t> from the neural Network whose values can be </a:t>
            </a:r>
            <a:r>
              <a:rPr lang="en-GB"/>
              <a:t>estimated</a:t>
            </a:r>
            <a:r>
              <a:rPr lang="en-GB"/>
              <a:t> from the data.</a:t>
            </a:r>
            <a:endParaRPr/>
          </a:p>
          <a:p>
            <a:pPr indent="-342900" lvl="0" marL="457200" rtl="0" algn="l">
              <a:spcBef>
                <a:spcPts val="0"/>
              </a:spcBef>
              <a:spcAft>
                <a:spcPts val="0"/>
              </a:spcAft>
              <a:buSzPts val="1800"/>
              <a:buChar char="●"/>
            </a:pPr>
            <a:r>
              <a:rPr lang="en-GB"/>
              <a:t>Required by the model to make prediction</a:t>
            </a:r>
            <a:endParaRPr/>
          </a:p>
          <a:p>
            <a:pPr indent="-342900" lvl="0" marL="457200" rtl="0" algn="l">
              <a:spcBef>
                <a:spcPts val="0"/>
              </a:spcBef>
              <a:spcAft>
                <a:spcPts val="0"/>
              </a:spcAft>
              <a:buSzPts val="1800"/>
              <a:buChar char="●"/>
            </a:pPr>
            <a:r>
              <a:rPr lang="en-GB"/>
              <a:t>Value define the learnt parameters from the data.</a:t>
            </a:r>
            <a:endParaRPr/>
          </a:p>
          <a:p>
            <a:pPr indent="-342900" lvl="0" marL="457200" rtl="0" algn="l">
              <a:spcBef>
                <a:spcPts val="0"/>
              </a:spcBef>
              <a:spcAft>
                <a:spcPts val="0"/>
              </a:spcAft>
              <a:buSzPts val="1800"/>
              <a:buChar char="●"/>
            </a:pPr>
            <a:r>
              <a:rPr lang="en-GB"/>
              <a:t>Not set manually.saved as the Neural </a:t>
            </a:r>
            <a:r>
              <a:rPr lang="en-GB"/>
              <a:t>Network</a:t>
            </a:r>
            <a:r>
              <a:rPr lang="en-GB"/>
              <a:t> is trained.</a:t>
            </a:r>
            <a:endParaRPr/>
          </a:p>
          <a:p>
            <a:pPr indent="0" lvl="0" marL="0" rtl="0" algn="l">
              <a:spcBef>
                <a:spcPts val="1200"/>
              </a:spcBef>
              <a:spcAft>
                <a:spcPts val="1200"/>
              </a:spcAft>
              <a:buNone/>
            </a:pPr>
            <a:r>
              <a:rPr lang="en-GB"/>
              <a:t>Example - </a:t>
            </a:r>
            <a:r>
              <a:rPr lang="en-GB"/>
              <a:t>Weights and Biases.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are </a:t>
            </a:r>
            <a:r>
              <a:rPr lang="en-GB"/>
              <a:t>model</a:t>
            </a:r>
            <a:r>
              <a:rPr lang="en-GB"/>
              <a:t> Hyper parameters?</a:t>
            </a:r>
            <a:endParaRPr/>
          </a:p>
        </p:txBody>
      </p:sp>
      <p:sp>
        <p:nvSpPr>
          <p:cNvPr id="485" name="Google Shape;485;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They are configured externally to the neural network : Value </a:t>
            </a:r>
            <a:r>
              <a:rPr lang="en-GB"/>
              <a:t>cannot</a:t>
            </a:r>
            <a:r>
              <a:rPr lang="en-GB"/>
              <a:t> be estimated </a:t>
            </a:r>
            <a:r>
              <a:rPr lang="en-GB"/>
              <a:t>until</a:t>
            </a:r>
            <a:r>
              <a:rPr lang="en-GB"/>
              <a:t> we </a:t>
            </a:r>
            <a:r>
              <a:rPr lang="en-GB"/>
              <a:t>train the</a:t>
            </a:r>
            <a:r>
              <a:rPr lang="en-GB"/>
              <a:t> dataset on the neural network</a:t>
            </a:r>
            <a:endParaRPr/>
          </a:p>
          <a:p>
            <a:pPr indent="-342900" lvl="0" marL="457200" rtl="0" algn="l">
              <a:spcBef>
                <a:spcPts val="0"/>
              </a:spcBef>
              <a:spcAft>
                <a:spcPts val="0"/>
              </a:spcAft>
              <a:buSzPts val="1800"/>
              <a:buChar char="●"/>
            </a:pPr>
            <a:r>
              <a:rPr lang="en-GB"/>
              <a:t>No clear way to find the best value</a:t>
            </a:r>
            <a:endParaRPr/>
          </a:p>
          <a:p>
            <a:pPr indent="-342900" lvl="0" marL="457200" rtl="0" algn="l">
              <a:spcBef>
                <a:spcPts val="0"/>
              </a:spcBef>
              <a:spcAft>
                <a:spcPts val="0"/>
              </a:spcAft>
              <a:buSzPts val="1800"/>
              <a:buChar char="●"/>
            </a:pPr>
            <a:r>
              <a:rPr lang="en-GB"/>
              <a:t>When the DL </a:t>
            </a:r>
            <a:r>
              <a:rPr lang="en-GB"/>
              <a:t>algorithm</a:t>
            </a:r>
            <a:r>
              <a:rPr lang="en-GB"/>
              <a:t> is tuned ,you are really tuning the hyperparameters.</a:t>
            </a:r>
            <a:endParaRPr/>
          </a:p>
          <a:p>
            <a:pPr indent="-342900" lvl="0" marL="457200" rtl="0" algn="l">
              <a:spcBef>
                <a:spcPts val="0"/>
              </a:spcBef>
              <a:spcAft>
                <a:spcPts val="0"/>
              </a:spcAft>
              <a:buSzPts val="1800"/>
              <a:buChar char="●"/>
            </a:pPr>
            <a:r>
              <a:rPr lang="en-GB"/>
              <a:t>This is tuned manually</a:t>
            </a:r>
            <a:endParaRPr/>
          </a:p>
          <a:p>
            <a:pPr indent="0" lvl="0" marL="0" rtl="0" algn="l">
              <a:spcBef>
                <a:spcPts val="1200"/>
              </a:spcBef>
              <a:spcAft>
                <a:spcPts val="1200"/>
              </a:spcAft>
              <a:buNone/>
            </a:pPr>
            <a:r>
              <a:rPr lang="en-GB"/>
              <a:t>Example - </a:t>
            </a:r>
            <a:r>
              <a:rPr lang="en-GB"/>
              <a:t>Learning</a:t>
            </a:r>
            <a:r>
              <a:rPr lang="en-GB"/>
              <a:t> Rate,C and Alpha in SVM,Epochs,k in the </a:t>
            </a:r>
            <a:r>
              <a:rPr lang="en-GB"/>
              <a:t>kNEes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Summary </a:t>
            </a:r>
            <a:endParaRPr/>
          </a:p>
        </p:txBody>
      </p:sp>
      <p:sp>
        <p:nvSpPr>
          <p:cNvPr id="491" name="Google Shape;491;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Model</a:t>
            </a:r>
            <a:r>
              <a:rPr lang="en-GB"/>
              <a:t> parameters  -&gt; Estimated </a:t>
            </a:r>
            <a:r>
              <a:rPr lang="en-GB"/>
              <a:t>front</a:t>
            </a:r>
            <a:r>
              <a:rPr lang="en-GB"/>
              <a:t> the data</a:t>
            </a:r>
            <a:endParaRPr/>
          </a:p>
          <a:p>
            <a:pPr indent="0" lvl="0" marL="0" rtl="0" algn="l">
              <a:spcBef>
                <a:spcPts val="1200"/>
              </a:spcBef>
              <a:spcAft>
                <a:spcPts val="0"/>
              </a:spcAft>
              <a:buNone/>
            </a:pPr>
            <a:r>
              <a:rPr lang="en-GB"/>
              <a:t>Model Hyperparameters -&gt; </a:t>
            </a:r>
            <a:r>
              <a:rPr lang="en-GB"/>
              <a:t>Can't</a:t>
            </a:r>
            <a:r>
              <a:rPr lang="en-GB"/>
              <a:t> be estimated </a:t>
            </a:r>
            <a:r>
              <a:rPr lang="en-GB"/>
              <a:t>from the data</a:t>
            </a:r>
            <a:endParaRPr/>
          </a:p>
          <a:p>
            <a:pPr indent="0" lvl="0" marL="0" rtl="0" algn="l">
              <a:spcBef>
                <a:spcPts val="1200"/>
              </a:spcBef>
              <a:spcAft>
                <a:spcPts val="1200"/>
              </a:spcAft>
              <a:buNone/>
            </a:pPr>
            <a:r>
              <a:rPr lang="en-GB"/>
              <a:t>HyperParameters are often called as the parameters as they are a part of the Machine Learning that must set manually and tuned.</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Epochs,Batches,Batch Size and Iterations</a:t>
            </a:r>
            <a:endParaRPr/>
          </a:p>
        </p:txBody>
      </p:sp>
      <p:sp>
        <p:nvSpPr>
          <p:cNvPr id="497" name="Google Shape;497;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Need to learn to do this to your Neural Network when the dataset is too Big.</a:t>
            </a:r>
            <a:endParaRPr/>
          </a:p>
          <a:p>
            <a:pPr indent="0" lvl="0" marL="0" rtl="0" algn="l">
              <a:spcBef>
                <a:spcPts val="1200"/>
              </a:spcBef>
              <a:spcAft>
                <a:spcPts val="0"/>
              </a:spcAft>
              <a:buNone/>
            </a:pPr>
            <a:r>
              <a:rPr lang="en-GB"/>
              <a:t>Break the dataset into smaller chunks and feed those chunks to the Neural Network One by One.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Epochs</a:t>
            </a:r>
            <a:endParaRPr/>
          </a:p>
        </p:txBody>
      </p:sp>
      <p:sp>
        <p:nvSpPr>
          <p:cNvPr id="503" name="Google Shape;503;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When the Entire dataset is passed forward to the Neural Network </a:t>
            </a:r>
            <a:r>
              <a:rPr lang="en-GB"/>
              <a:t>and</a:t>
            </a:r>
            <a:r>
              <a:rPr lang="en-GB"/>
              <a:t> only once they get trained in the Network.</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We use more than one epoch to help model generalize better and accurate.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There is no </a:t>
            </a:r>
            <a:r>
              <a:rPr lang="en-GB"/>
              <a:t>absolute</a:t>
            </a:r>
            <a:r>
              <a:rPr lang="en-GB"/>
              <a:t> count for the dataset as its different for different datasets.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Batch and Batch size</a:t>
            </a:r>
            <a:endParaRPr/>
          </a:p>
        </p:txBody>
      </p:sp>
      <p:sp>
        <p:nvSpPr>
          <p:cNvPr id="509" name="Google Shape;509;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We divide </a:t>
            </a:r>
            <a:r>
              <a:rPr lang="en-GB"/>
              <a:t>large</a:t>
            </a:r>
            <a:r>
              <a:rPr lang="en-GB"/>
              <a:t> </a:t>
            </a:r>
            <a:r>
              <a:rPr lang="en-GB"/>
              <a:t>dataset</a:t>
            </a:r>
            <a:r>
              <a:rPr lang="en-GB"/>
              <a:t> into the smaller batches </a:t>
            </a:r>
            <a:r>
              <a:rPr lang="en-GB"/>
              <a:t>and</a:t>
            </a:r>
            <a:r>
              <a:rPr lang="en-GB"/>
              <a:t> feed those batches to the Neural Network</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Batch Size - Total number of the training examples in the Batches.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Iterations</a:t>
            </a:r>
            <a:endParaRPr/>
          </a:p>
        </p:txBody>
      </p:sp>
      <p:sp>
        <p:nvSpPr>
          <p:cNvPr id="515" name="Google Shape;515;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Number of Batches needed to complete one epoch</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Number f batches  = Number of iterations in one epochs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Let's</a:t>
            </a:r>
            <a:r>
              <a:rPr lang="en-GB"/>
              <a:t> have some more </a:t>
            </a:r>
            <a:r>
              <a:rPr lang="en-GB"/>
              <a:t>insights</a:t>
            </a:r>
            <a:endParaRPr/>
          </a:p>
        </p:txBody>
      </p:sp>
      <p:sp>
        <p:nvSpPr>
          <p:cNvPr id="521" name="Google Shape;521;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Suppose we have 1 million Number if dataset as the Training Example and you divide the dataset into the batches of 500 ,to Complete 1 Epoch ,it would take 20000 iterations.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r>
              <a:rPr lang="en-GB"/>
              <a:t> for the </a:t>
            </a:r>
            <a:r>
              <a:rPr lang="en-GB"/>
              <a:t>terms</a:t>
            </a:r>
            <a:r>
              <a:rPr lang="en-GB"/>
              <a:t> used in NN’s</a:t>
            </a:r>
            <a:endParaRPr/>
          </a:p>
        </p:txBody>
      </p:sp>
      <p:sp>
        <p:nvSpPr>
          <p:cNvPr id="527" name="Google Shape;527;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How to design an Architecture?</a:t>
            </a:r>
            <a:endParaRPr/>
          </a:p>
          <a:p>
            <a:pPr indent="0" lvl="0" marL="0" rtl="0" algn="l">
              <a:spcBef>
                <a:spcPts val="1200"/>
              </a:spcBef>
              <a:spcAft>
                <a:spcPts val="0"/>
              </a:spcAft>
              <a:buNone/>
            </a:pPr>
            <a:r>
              <a:rPr lang="en-GB"/>
              <a:t>Which Activation </a:t>
            </a:r>
            <a:r>
              <a:rPr lang="en-GB"/>
              <a:t>Function</a:t>
            </a:r>
            <a:r>
              <a:rPr lang="en-GB"/>
              <a:t> to use?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The only thing is  to </a:t>
            </a:r>
            <a:endParaRPr/>
          </a:p>
        </p:txBody>
      </p:sp>
      <p:pic>
        <p:nvPicPr>
          <p:cNvPr id="528" name="Google Shape;528;p80"/>
          <p:cNvPicPr preferRelativeResize="0"/>
          <p:nvPr/>
        </p:nvPicPr>
        <p:blipFill>
          <a:blip r:embed="rId3">
            <a:alphaModFix/>
          </a:blip>
          <a:stretch>
            <a:fillRect/>
          </a:stretch>
        </p:blipFill>
        <p:spPr>
          <a:xfrm>
            <a:off x="3192550" y="2571750"/>
            <a:ext cx="3543300" cy="1905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of Learning </a:t>
            </a:r>
            <a:endParaRPr/>
          </a:p>
        </p:txBody>
      </p:sp>
      <p:sp>
        <p:nvSpPr>
          <p:cNvPr id="534" name="Google Shape;534;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There are Three Main Types - </a:t>
            </a:r>
            <a:endParaRPr/>
          </a:p>
          <a:p>
            <a:pPr indent="-342900" lvl="0" marL="457200" rtl="0" algn="l">
              <a:spcBef>
                <a:spcPts val="1200"/>
              </a:spcBef>
              <a:spcAft>
                <a:spcPts val="0"/>
              </a:spcAft>
              <a:buSzPts val="1800"/>
              <a:buChar char="●"/>
            </a:pPr>
            <a:r>
              <a:rPr lang="en-GB"/>
              <a:t>Supervised </a:t>
            </a:r>
            <a:r>
              <a:rPr lang="en-GB"/>
              <a:t>Learning</a:t>
            </a:r>
            <a:r>
              <a:rPr lang="en-GB"/>
              <a:t> </a:t>
            </a:r>
            <a:endParaRPr/>
          </a:p>
          <a:p>
            <a:pPr indent="-342900" lvl="0" marL="457200" rtl="0" algn="l">
              <a:spcBef>
                <a:spcPts val="0"/>
              </a:spcBef>
              <a:spcAft>
                <a:spcPts val="0"/>
              </a:spcAft>
              <a:buSzPts val="1800"/>
              <a:buChar char="●"/>
            </a:pPr>
            <a:r>
              <a:rPr lang="en-GB"/>
              <a:t>Unsupervised Learning</a:t>
            </a:r>
            <a:endParaRPr/>
          </a:p>
          <a:p>
            <a:pPr indent="-342900" lvl="0" marL="457200" rtl="0" algn="l">
              <a:spcBef>
                <a:spcPts val="0"/>
              </a:spcBef>
              <a:spcAft>
                <a:spcPts val="0"/>
              </a:spcAft>
              <a:buSzPts val="1800"/>
              <a:buChar char="●"/>
            </a:pPr>
            <a:r>
              <a:rPr lang="en-GB"/>
              <a:t>Reinforcement</a:t>
            </a:r>
            <a:r>
              <a:rPr lang="en-GB"/>
              <a:t> Learning</a:t>
            </a:r>
            <a:endParaRPr/>
          </a:p>
          <a:p>
            <a:pPr indent="0" lvl="0" marL="0" rtl="0" algn="l">
              <a:spcBef>
                <a:spcPts val="1200"/>
              </a:spcBef>
              <a:spcAft>
                <a:spcPts val="120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Supervised Learning</a:t>
            </a:r>
            <a:endParaRPr/>
          </a:p>
        </p:txBody>
      </p:sp>
      <p:sp>
        <p:nvSpPr>
          <p:cNvPr id="540" name="Google Shape;540;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Algorithms designed to learn from Examples.</a:t>
            </a:r>
            <a:endParaRPr/>
          </a:p>
          <a:p>
            <a:pPr indent="-342900" lvl="0" marL="457200" rtl="0" algn="l">
              <a:spcBef>
                <a:spcPts val="0"/>
              </a:spcBef>
              <a:spcAft>
                <a:spcPts val="0"/>
              </a:spcAft>
              <a:buSzPts val="1800"/>
              <a:buChar char="●"/>
            </a:pPr>
            <a:r>
              <a:rPr lang="en-GB"/>
              <a:t>Models are trained on well-labelled data</a:t>
            </a:r>
            <a:endParaRPr/>
          </a:p>
          <a:p>
            <a:pPr indent="-342900" lvl="0" marL="457200" rtl="0" algn="l">
              <a:spcBef>
                <a:spcPts val="0"/>
              </a:spcBef>
              <a:spcAft>
                <a:spcPts val="0"/>
              </a:spcAft>
              <a:buSzPts val="1800"/>
              <a:buChar char="●"/>
            </a:pPr>
            <a:r>
              <a:rPr lang="en-GB"/>
              <a:t>Each example has </a:t>
            </a:r>
            <a:endParaRPr/>
          </a:p>
          <a:p>
            <a:pPr indent="-342900" lvl="0" marL="457200" rtl="0" algn="l">
              <a:spcBef>
                <a:spcPts val="0"/>
              </a:spcBef>
              <a:spcAft>
                <a:spcPts val="0"/>
              </a:spcAft>
              <a:buSzPts val="1800"/>
              <a:buChar char="●"/>
            </a:pPr>
            <a:r>
              <a:rPr lang="en-GB"/>
              <a:t>Input Object - Typically a Vector</a:t>
            </a:r>
            <a:endParaRPr/>
          </a:p>
          <a:p>
            <a:pPr indent="-342900" lvl="0" marL="457200" rtl="0" algn="l">
              <a:spcBef>
                <a:spcPts val="0"/>
              </a:spcBef>
              <a:spcAft>
                <a:spcPts val="0"/>
              </a:spcAft>
              <a:buSzPts val="1800"/>
              <a:buChar char="●"/>
            </a:pPr>
            <a:r>
              <a:rPr lang="en-GB"/>
              <a:t>Desired Output Value Supervised Signal</a:t>
            </a:r>
            <a:endParaRPr/>
          </a:p>
          <a:p>
            <a:pPr indent="0" lvl="0" marL="0" rtl="0" algn="l">
              <a:spcBef>
                <a:spcPts val="1200"/>
              </a:spcBef>
              <a:spcAft>
                <a:spcPts val="120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During Training</a:t>
            </a:r>
            <a:endParaRPr/>
          </a:p>
        </p:txBody>
      </p:sp>
      <p:sp>
        <p:nvSpPr>
          <p:cNvPr id="546" name="Google Shape;546;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Searches the pattern and correlate </a:t>
            </a:r>
            <a:r>
              <a:rPr lang="en-GB"/>
              <a:t>with</a:t>
            </a:r>
            <a:r>
              <a:rPr lang="en-GB"/>
              <a:t> the desired output.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After Training</a:t>
            </a:r>
            <a:endParaRPr/>
          </a:p>
        </p:txBody>
      </p:sp>
      <p:sp>
        <p:nvSpPr>
          <p:cNvPr id="552" name="Google Shape;552;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Takes the unseen inputs and determine </a:t>
            </a:r>
            <a:r>
              <a:rPr lang="en-GB"/>
              <a:t>which</a:t>
            </a:r>
            <a:r>
              <a:rPr lang="en-GB"/>
              <a:t> label to classify it to.</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Objective of a Supervised learning model</a:t>
            </a:r>
            <a:endParaRPr/>
          </a:p>
        </p:txBody>
      </p:sp>
      <p:sp>
        <p:nvSpPr>
          <p:cNvPr id="558" name="Google Shape;558;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Is to predict the correct </a:t>
            </a:r>
            <a:r>
              <a:rPr lang="en-GB"/>
              <a:t>label</a:t>
            </a:r>
            <a:r>
              <a:rPr lang="en-GB"/>
              <a:t> for the unseen data.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64" name="Google Shape;564;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5" name="Google Shape;565;p86"/>
          <p:cNvPicPr preferRelativeResize="0"/>
          <p:nvPr/>
        </p:nvPicPr>
        <p:blipFill>
          <a:blip r:embed="rId3">
            <a:alphaModFix/>
          </a:blip>
          <a:stretch>
            <a:fillRect/>
          </a:stretch>
        </p:blipFill>
        <p:spPr>
          <a:xfrm>
            <a:off x="0" y="571773"/>
            <a:ext cx="9144001" cy="399995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Supervised</a:t>
            </a:r>
            <a:r>
              <a:rPr lang="en-GB"/>
              <a:t> learning is of two types</a:t>
            </a:r>
            <a:endParaRPr/>
          </a:p>
        </p:txBody>
      </p:sp>
      <p:sp>
        <p:nvSpPr>
          <p:cNvPr id="571" name="Google Shape;571;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Classification </a:t>
            </a:r>
            <a:endParaRPr/>
          </a:p>
          <a:p>
            <a:pPr indent="-342900" lvl="0" marL="457200" rtl="0" algn="l">
              <a:spcBef>
                <a:spcPts val="0"/>
              </a:spcBef>
              <a:spcAft>
                <a:spcPts val="0"/>
              </a:spcAft>
              <a:buSzPts val="1800"/>
              <a:buChar char="●"/>
            </a:pPr>
            <a:r>
              <a:rPr lang="en-GB"/>
              <a:t>Regression</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Classification</a:t>
            </a:r>
            <a:endParaRPr/>
          </a:p>
        </p:txBody>
      </p:sp>
      <p:sp>
        <p:nvSpPr>
          <p:cNvPr id="577" name="Google Shape;577;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Take Input data and assign it to a class/category.</a:t>
            </a:r>
            <a:endParaRPr/>
          </a:p>
          <a:p>
            <a:pPr indent="-342900" lvl="0" marL="457200" rtl="0" algn="l">
              <a:spcBef>
                <a:spcPts val="0"/>
              </a:spcBef>
              <a:spcAft>
                <a:spcPts val="0"/>
              </a:spcAft>
              <a:buSzPts val="1800"/>
              <a:buChar char="●"/>
            </a:pPr>
            <a:r>
              <a:rPr lang="en-GB"/>
              <a:t>Models finds features </a:t>
            </a:r>
            <a:r>
              <a:rPr lang="en-GB"/>
              <a:t>in the</a:t>
            </a:r>
            <a:r>
              <a:rPr lang="en-GB"/>
              <a:t> data </a:t>
            </a:r>
            <a:r>
              <a:rPr lang="en-GB"/>
              <a:t>that</a:t>
            </a:r>
            <a:r>
              <a:rPr lang="en-GB"/>
              <a:t> correlates to the class and creates a </a:t>
            </a:r>
            <a:r>
              <a:rPr lang="en-GB"/>
              <a:t>mapping</a:t>
            </a:r>
            <a:r>
              <a:rPr lang="en-GB"/>
              <a:t> function</a:t>
            </a:r>
            <a:endParaRPr/>
          </a:p>
          <a:p>
            <a:pPr indent="-342900" lvl="0" marL="457200" rtl="0" algn="l">
              <a:spcBef>
                <a:spcPts val="0"/>
              </a:spcBef>
              <a:spcAft>
                <a:spcPts val="0"/>
              </a:spcAft>
              <a:buSzPts val="1800"/>
              <a:buChar char="●"/>
            </a:pPr>
            <a:r>
              <a:rPr lang="en-GB"/>
              <a:t>This mapping function will be used to classify unseen data </a:t>
            </a:r>
            <a:r>
              <a:rPr lang="en-GB"/>
              <a:t>from testing and the validation set from the cross validation of the data</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Binary and </a:t>
            </a:r>
            <a:r>
              <a:rPr lang="en-GB"/>
              <a:t>Multiclass</a:t>
            </a:r>
            <a:r>
              <a:rPr lang="en-GB"/>
              <a:t> classification</a:t>
            </a:r>
            <a:endParaRPr/>
          </a:p>
        </p:txBody>
      </p:sp>
      <p:sp>
        <p:nvSpPr>
          <p:cNvPr id="583" name="Google Shape;583;p8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Definition and Example</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Popular Classification Algorithms</a:t>
            </a:r>
            <a:endParaRPr/>
          </a:p>
        </p:txBody>
      </p:sp>
      <p:sp>
        <p:nvSpPr>
          <p:cNvPr id="589" name="Google Shape;589;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GB">
                <a:highlight>
                  <a:srgbClr val="FFFFFF"/>
                </a:highlight>
              </a:rPr>
              <a:t>Logistic Regression.</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Naïve Bayes.</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Stochastic Gradient Descent.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K-Nearest Neighbours.</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Decision Tree.</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Random Forest.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Support Vector Machine</a:t>
            </a:r>
            <a:endParaRPr>
              <a:highlight>
                <a:srgbClr val="FFFFFF"/>
              </a:highlight>
            </a:endParaRPr>
          </a:p>
          <a:p>
            <a:pPr indent="0" lvl="0" marL="0" rtl="0" algn="l">
              <a:spcBef>
                <a:spcPts val="300"/>
              </a:spcBef>
              <a:spcAft>
                <a:spcPts val="120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Regression</a:t>
            </a:r>
            <a:endParaRPr/>
          </a:p>
        </p:txBody>
      </p:sp>
      <p:sp>
        <p:nvSpPr>
          <p:cNvPr id="595" name="Google Shape;595;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Model tries to find a relationship between dependent and independent variable.</a:t>
            </a:r>
            <a:endParaRPr/>
          </a:p>
          <a:p>
            <a:pPr indent="0" lvl="0" marL="0" rtl="0" algn="l">
              <a:spcBef>
                <a:spcPts val="1200"/>
              </a:spcBef>
              <a:spcAft>
                <a:spcPts val="1200"/>
              </a:spcAft>
              <a:buNone/>
            </a:pPr>
            <a:r>
              <a:rPr lang="en-GB"/>
              <a:t>Goal is always to predict </a:t>
            </a:r>
            <a:r>
              <a:rPr lang="en-GB"/>
              <a:t>continuous</a:t>
            </a:r>
            <a:r>
              <a:rPr lang="en-GB"/>
              <a:t> values such as a test score.</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Equation is always </a:t>
            </a:r>
            <a:r>
              <a:rPr lang="en-GB"/>
              <a:t>continuous</a:t>
            </a:r>
            <a:endParaRPr/>
          </a:p>
        </p:txBody>
      </p:sp>
      <p:pic>
        <p:nvPicPr>
          <p:cNvPr id="601" name="Google Shape;601;p92"/>
          <p:cNvPicPr preferRelativeResize="0"/>
          <p:nvPr/>
        </p:nvPicPr>
        <p:blipFill>
          <a:blip r:embed="rId3">
            <a:alphaModFix/>
          </a:blip>
          <a:stretch>
            <a:fillRect/>
          </a:stretch>
        </p:blipFill>
        <p:spPr>
          <a:xfrm>
            <a:off x="649374" y="1214350"/>
            <a:ext cx="7845275" cy="32926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Simple Linear Regression</a:t>
            </a:r>
            <a:endParaRPr/>
          </a:p>
        </p:txBody>
      </p:sp>
      <p:sp>
        <p:nvSpPr>
          <p:cNvPr id="607" name="Google Shape;607;p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08" name="Google Shape;608;p93"/>
          <p:cNvPicPr preferRelativeResize="0"/>
          <p:nvPr/>
        </p:nvPicPr>
        <p:blipFill>
          <a:blip r:embed="rId3">
            <a:alphaModFix/>
          </a:blip>
          <a:stretch>
            <a:fillRect/>
          </a:stretch>
        </p:blipFill>
        <p:spPr>
          <a:xfrm>
            <a:off x="0" y="1376363"/>
            <a:ext cx="9144000" cy="23907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Different Regression Algorithm</a:t>
            </a:r>
            <a:endParaRPr/>
          </a:p>
        </p:txBody>
      </p:sp>
      <p:sp>
        <p:nvSpPr>
          <p:cNvPr id="614" name="Google Shape;614;p9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GB">
                <a:highlight>
                  <a:srgbClr val="FFFFFF"/>
                </a:highlight>
              </a:rPr>
              <a:t>Linear </a:t>
            </a:r>
            <a:r>
              <a:rPr b="1" lang="en-GB">
                <a:highlight>
                  <a:srgbClr val="FFFFFF"/>
                </a:highlight>
              </a:rPr>
              <a:t>Regression</a:t>
            </a:r>
            <a:r>
              <a:rPr lang="en-GB">
                <a:highlight>
                  <a:srgbClr val="FFFFFF"/>
                </a:highlight>
              </a:rPr>
              <a: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Logistic </a:t>
            </a:r>
            <a:r>
              <a:rPr b="1" lang="en-GB">
                <a:highlight>
                  <a:srgbClr val="FFFFFF"/>
                </a:highlight>
              </a:rPr>
              <a:t>Regression</a:t>
            </a:r>
            <a:r>
              <a:rPr lang="en-GB">
                <a:highlight>
                  <a:srgbClr val="FFFFFF"/>
                </a:highlight>
              </a:rPr>
              <a: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Ridge </a:t>
            </a:r>
            <a:r>
              <a:rPr b="1" lang="en-GB">
                <a:highlight>
                  <a:srgbClr val="FFFFFF"/>
                </a:highlight>
              </a:rPr>
              <a:t>Regression</a:t>
            </a:r>
            <a:r>
              <a:rPr lang="en-GB">
                <a:highlight>
                  <a:srgbClr val="FFFFFF"/>
                </a:highlight>
              </a:rPr>
              <a: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Lasso </a:t>
            </a:r>
            <a:r>
              <a:rPr b="1" lang="en-GB">
                <a:highlight>
                  <a:srgbClr val="FFFFFF"/>
                </a:highlight>
              </a:rPr>
              <a:t>Regression</a:t>
            </a:r>
            <a:r>
              <a:rPr lang="en-GB">
                <a:highlight>
                  <a:srgbClr val="FFFFFF"/>
                </a:highlight>
              </a:rPr>
              <a: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Polynomial </a:t>
            </a:r>
            <a:r>
              <a:rPr b="1" lang="en-GB">
                <a:highlight>
                  <a:srgbClr val="FFFFFF"/>
                </a:highlight>
              </a:rPr>
              <a:t>Regression</a:t>
            </a:r>
            <a:r>
              <a:rPr lang="en-GB">
                <a:highlight>
                  <a:srgbClr val="FFFFFF"/>
                </a:highlight>
              </a:rPr>
              <a:t>.</a:t>
            </a:r>
            <a:endParaRPr>
              <a:highlight>
                <a:srgbClr val="FFFFFF"/>
              </a:highlight>
            </a:endParaRPr>
          </a:p>
          <a:p>
            <a:pPr indent="-342900" lvl="0" marL="457200" rtl="0" algn="l">
              <a:spcBef>
                <a:spcPts val="0"/>
              </a:spcBef>
              <a:spcAft>
                <a:spcPts val="0"/>
              </a:spcAft>
              <a:buClr>
                <a:schemeClr val="dk2"/>
              </a:buClr>
              <a:buSzPts val="1800"/>
              <a:buChar char="●"/>
            </a:pPr>
            <a:r>
              <a:rPr lang="en-GB">
                <a:highlight>
                  <a:srgbClr val="FFFFFF"/>
                </a:highlight>
              </a:rPr>
              <a:t>Bayesian Linear </a:t>
            </a:r>
            <a:r>
              <a:rPr b="1" lang="en-GB">
                <a:highlight>
                  <a:srgbClr val="FFFFFF"/>
                </a:highlight>
              </a:rPr>
              <a:t>Regression</a:t>
            </a:r>
            <a:r>
              <a:rPr lang="en-GB">
                <a:highlight>
                  <a:srgbClr val="FFFFFF"/>
                </a:highlight>
              </a:rPr>
              <a:t>.</a:t>
            </a:r>
            <a:endParaRPr>
              <a:highlight>
                <a:srgbClr val="FFFFFF"/>
              </a:highlight>
            </a:endParaRPr>
          </a:p>
          <a:p>
            <a:pPr indent="0" lvl="0" marL="0" rtl="0" algn="l">
              <a:spcBef>
                <a:spcPts val="300"/>
              </a:spcBef>
              <a:spcAft>
                <a:spcPts val="120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9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Application of Supervised Learning</a:t>
            </a:r>
            <a:endParaRPr/>
          </a:p>
        </p:txBody>
      </p:sp>
      <p:sp>
        <p:nvSpPr>
          <p:cNvPr id="620" name="Google Shape;620;p9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Text categorization</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Face Detection</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Signature recognition</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Customer discovery</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Spam detection</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Weather forecasting</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Predicting housing prices based on the prevailing market price</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Stock price predictions, among others</a:t>
            </a:r>
            <a:endParaRPr>
              <a:highlight>
                <a:srgbClr val="FFFFFF"/>
              </a:highlight>
              <a:latin typeface="Roboto"/>
              <a:ea typeface="Roboto"/>
              <a:cs typeface="Roboto"/>
              <a:sym typeface="Roboto"/>
            </a:endParaRPr>
          </a:p>
          <a:p>
            <a:pPr indent="0" lvl="0" marL="0" rtl="0" algn="l">
              <a:spcBef>
                <a:spcPts val="1600"/>
              </a:spcBef>
              <a:spcAft>
                <a:spcPts val="120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Unsupervised Learning</a:t>
            </a:r>
            <a:endParaRPr/>
          </a:p>
        </p:txBody>
      </p:sp>
      <p:sp>
        <p:nvSpPr>
          <p:cNvPr id="626" name="Google Shape;626;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Uses to manifest underlying pattern in data</a:t>
            </a:r>
            <a:endParaRPr/>
          </a:p>
          <a:p>
            <a:pPr indent="-342900" lvl="0" marL="457200" rtl="0" algn="l">
              <a:spcBef>
                <a:spcPts val="0"/>
              </a:spcBef>
              <a:spcAft>
                <a:spcPts val="0"/>
              </a:spcAft>
              <a:buSzPts val="1800"/>
              <a:buChar char="●"/>
            </a:pPr>
            <a:r>
              <a:rPr lang="en-GB"/>
              <a:t>Used in Exploratory Data Analysis</a:t>
            </a:r>
            <a:endParaRPr/>
          </a:p>
          <a:p>
            <a:pPr indent="-342900" lvl="0" marL="457200" rtl="0" algn="l">
              <a:spcBef>
                <a:spcPts val="0"/>
              </a:spcBef>
              <a:spcAft>
                <a:spcPts val="0"/>
              </a:spcAft>
              <a:buSzPts val="1800"/>
              <a:buChar char="●"/>
            </a:pPr>
            <a:r>
              <a:rPr lang="en-GB"/>
              <a:t>Need no labelled data,they use the feature from the Data</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Unsupervised </a:t>
            </a:r>
            <a:r>
              <a:rPr lang="en-GB"/>
              <a:t>Learning</a:t>
            </a:r>
            <a:r>
              <a:rPr lang="en-GB"/>
              <a:t> is of </a:t>
            </a:r>
            <a:endParaRPr/>
          </a:p>
        </p:txBody>
      </p:sp>
      <p:sp>
        <p:nvSpPr>
          <p:cNvPr id="632" name="Google Shape;632;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Clustering</a:t>
            </a:r>
            <a:endParaRPr/>
          </a:p>
          <a:p>
            <a:pPr indent="-342900" lvl="0" marL="457200" rtl="0" algn="l">
              <a:spcBef>
                <a:spcPts val="0"/>
              </a:spcBef>
              <a:spcAft>
                <a:spcPts val="0"/>
              </a:spcAft>
              <a:buSzPts val="1800"/>
              <a:buChar char="●"/>
            </a:pPr>
            <a:r>
              <a:rPr lang="en-GB"/>
              <a:t>Association</a:t>
            </a:r>
            <a:endParaRPr/>
          </a:p>
          <a:p>
            <a:pPr indent="0" lvl="0" marL="0" rtl="0" algn="l">
              <a:spcBef>
                <a:spcPts val="1200"/>
              </a:spcBef>
              <a:spcAft>
                <a:spcPts val="120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9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Clustering -</a:t>
            </a:r>
            <a:r>
              <a:rPr lang="en-GB"/>
              <a:t>Partitional Clustering</a:t>
            </a:r>
            <a:endParaRPr/>
          </a:p>
          <a:p>
            <a:pPr indent="0" lvl="0" marL="0" rtl="0" algn="l">
              <a:spcBef>
                <a:spcPts val="0"/>
              </a:spcBef>
              <a:spcAft>
                <a:spcPts val="0"/>
              </a:spcAft>
              <a:buNone/>
            </a:pPr>
            <a:r>
              <a:t/>
            </a:r>
            <a:endParaRPr/>
          </a:p>
        </p:txBody>
      </p:sp>
      <p:sp>
        <p:nvSpPr>
          <p:cNvPr id="638" name="Google Shape;638;p9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Partitional Clustering</a:t>
            </a:r>
            <a:endParaRPr/>
          </a:p>
          <a:p>
            <a:pPr indent="-342900" lvl="0" marL="457200" rtl="0" algn="l">
              <a:spcBef>
                <a:spcPts val="0"/>
              </a:spcBef>
              <a:spcAft>
                <a:spcPts val="0"/>
              </a:spcAft>
              <a:buSzPts val="1800"/>
              <a:buChar char="●"/>
            </a:pPr>
            <a:r>
              <a:rPr lang="en-GB"/>
              <a:t>Each Data point can belong to a single cluster</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Clustering - </a:t>
            </a:r>
            <a:r>
              <a:rPr lang="en-GB"/>
              <a:t>Hierarchical</a:t>
            </a:r>
            <a:r>
              <a:rPr lang="en-GB"/>
              <a:t> </a:t>
            </a:r>
            <a:r>
              <a:rPr lang="en-GB"/>
              <a:t>Clustering</a:t>
            </a:r>
            <a:endParaRPr/>
          </a:p>
        </p:txBody>
      </p:sp>
      <p:sp>
        <p:nvSpPr>
          <p:cNvPr id="644" name="Google Shape;644;p9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Clusters</a:t>
            </a:r>
            <a:r>
              <a:rPr lang="en-GB"/>
              <a:t> within the clusters</a:t>
            </a:r>
            <a:endParaRPr/>
          </a:p>
          <a:p>
            <a:pPr indent="-342900" lvl="0" marL="457200" rtl="0" algn="l">
              <a:spcBef>
                <a:spcPts val="0"/>
              </a:spcBef>
              <a:spcAft>
                <a:spcPts val="0"/>
              </a:spcAft>
              <a:buSzPts val="1800"/>
              <a:buChar char="●"/>
            </a:pPr>
            <a:r>
              <a:rPr lang="en-GB"/>
              <a:t>Datapoint</a:t>
            </a:r>
            <a:r>
              <a:rPr lang="en-GB"/>
              <a:t> may belong to different clusters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Association</a:t>
            </a:r>
            <a:endParaRPr/>
          </a:p>
        </p:txBody>
      </p:sp>
      <p:sp>
        <p:nvSpPr>
          <p:cNvPr id="650" name="Google Shape;650;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Attempts</a:t>
            </a:r>
            <a:r>
              <a:rPr lang="en-GB"/>
              <a:t> to find different relationship between the different entities.</a:t>
            </a:r>
            <a:endParaRPr/>
          </a:p>
          <a:p>
            <a:pPr indent="0" lvl="0" marL="0" rtl="0" algn="l">
              <a:spcBef>
                <a:spcPts val="1200"/>
              </a:spcBef>
              <a:spcAft>
                <a:spcPts val="1200"/>
              </a:spcAft>
              <a:buNone/>
            </a:pPr>
            <a:r>
              <a:rPr lang="en-GB"/>
              <a:t>Example - Market Basket Analysis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Some Clustering </a:t>
            </a:r>
            <a:r>
              <a:rPr lang="en-GB"/>
              <a:t>Algorithm</a:t>
            </a:r>
            <a:endParaRPr/>
          </a:p>
        </p:txBody>
      </p:sp>
      <p:sp>
        <p:nvSpPr>
          <p:cNvPr id="656" name="Google Shape;656;p10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Clustering Dataset</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Affinity Propagation</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Agglomerative Clustering</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BIRCH</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DBSCAN</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K-Means</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Mini-Batch K-Means</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Mean Shift</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OPTICS</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Spectral Clustering</a:t>
            </a:r>
            <a:endParaRPr sz="2837">
              <a:solidFill>
                <a:srgbClr val="555555"/>
              </a:solidFill>
              <a:highlight>
                <a:srgbClr val="FFFFFF"/>
              </a:highlight>
            </a:endParaRPr>
          </a:p>
          <a:p>
            <a:pPr indent="-341200" lvl="0" marL="457200" rtl="0" algn="l">
              <a:spcBef>
                <a:spcPts val="0"/>
              </a:spcBef>
              <a:spcAft>
                <a:spcPts val="0"/>
              </a:spcAft>
              <a:buClr>
                <a:srgbClr val="555555"/>
              </a:buClr>
              <a:buSzPct val="100000"/>
              <a:buAutoNum type="arabicPeriod"/>
            </a:pPr>
            <a:r>
              <a:rPr lang="en-GB" sz="2837">
                <a:solidFill>
                  <a:srgbClr val="555555"/>
                </a:solidFill>
                <a:highlight>
                  <a:srgbClr val="FFFFFF"/>
                </a:highlight>
              </a:rPr>
              <a:t>Gaussian Mixture Model</a:t>
            </a:r>
            <a:endParaRPr sz="2837">
              <a:solidFill>
                <a:srgbClr val="555555"/>
              </a:solidFill>
              <a:highlight>
                <a:srgbClr val="FFFFFF"/>
              </a:highlight>
            </a:endParaRPr>
          </a:p>
          <a:p>
            <a:pPr indent="0" lvl="0" marL="0" rtl="0" algn="l">
              <a:spcBef>
                <a:spcPts val="0"/>
              </a:spcBef>
              <a:spcAft>
                <a:spcPts val="120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Application of the Unsupervised Learning</a:t>
            </a:r>
            <a:endParaRPr/>
          </a:p>
        </p:txBody>
      </p:sp>
      <p:sp>
        <p:nvSpPr>
          <p:cNvPr id="662" name="Google Shape;662;p10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Fraud detection</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Malware detection</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Identification of human errors during data entry</a:t>
            </a:r>
            <a:endParaRPr>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GB">
                <a:highlight>
                  <a:srgbClr val="FFFFFF"/>
                </a:highlight>
                <a:latin typeface="Roboto"/>
                <a:ea typeface="Roboto"/>
                <a:cs typeface="Roboto"/>
                <a:sym typeface="Roboto"/>
              </a:rPr>
              <a:t>Conducting accurate basket analysis, etc.</a:t>
            </a:r>
            <a:endParaRPr>
              <a:highlight>
                <a:srgbClr val="FFFFFF"/>
              </a:highlight>
              <a:latin typeface="Roboto"/>
              <a:ea typeface="Roboto"/>
              <a:cs typeface="Roboto"/>
              <a:sym typeface="Roboto"/>
            </a:endParaRPr>
          </a:p>
          <a:p>
            <a:pPr indent="0" lvl="0" marL="0" rtl="0" algn="l">
              <a:spcBef>
                <a:spcPts val="1600"/>
              </a:spcBef>
              <a:spcAft>
                <a:spcPts val="120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0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Reinforcement Learning</a:t>
            </a:r>
            <a:endParaRPr/>
          </a:p>
        </p:txBody>
      </p:sp>
      <p:sp>
        <p:nvSpPr>
          <p:cNvPr id="668" name="Google Shape;668;p10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Enable the intelligent entity to learn in an </a:t>
            </a:r>
            <a:r>
              <a:rPr lang="en-GB"/>
              <a:t>interactive</a:t>
            </a:r>
            <a:r>
              <a:rPr lang="en-GB"/>
              <a:t> </a:t>
            </a:r>
            <a:r>
              <a:rPr lang="en-GB"/>
              <a:t>environment</a:t>
            </a:r>
            <a:r>
              <a:rPr lang="en-GB"/>
              <a:t> by </a:t>
            </a:r>
            <a:r>
              <a:rPr lang="en-GB"/>
              <a:t>trial</a:t>
            </a:r>
            <a:r>
              <a:rPr lang="en-GB"/>
              <a:t> and error(by Policy </a:t>
            </a:r>
            <a:r>
              <a:rPr lang="en-GB"/>
              <a:t>and</a:t>
            </a:r>
            <a:r>
              <a:rPr lang="en-GB"/>
              <a:t> reward network) based on its own actions and </a:t>
            </a:r>
            <a:r>
              <a:rPr lang="en-GB"/>
              <a:t>experience</a:t>
            </a:r>
            <a:r>
              <a:rPr lang="en-GB"/>
              <a: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This is a very new way of </a:t>
            </a:r>
            <a:r>
              <a:rPr lang="en-GB"/>
              <a:t>getting</a:t>
            </a:r>
            <a:r>
              <a:rPr lang="en-GB"/>
              <a:t> the things learnt.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If your Neural Network </a:t>
            </a:r>
            <a:r>
              <a:rPr lang="en-GB"/>
              <a:t>doesn't</a:t>
            </a:r>
            <a:r>
              <a:rPr lang="en-GB"/>
              <a:t> work well then you have to use the </a:t>
            </a:r>
            <a:r>
              <a:rPr lang="en-GB"/>
              <a:t>Reinforcement</a:t>
            </a:r>
            <a:r>
              <a:rPr lang="en-GB"/>
              <a:t> :Learning.</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Reward and Punishment is the key here</a:t>
            </a:r>
            <a:endParaRPr/>
          </a:p>
        </p:txBody>
      </p:sp>
      <p:sp>
        <p:nvSpPr>
          <p:cNvPr id="674" name="Google Shape;674;p10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Uses the </a:t>
            </a:r>
            <a:r>
              <a:rPr lang="en-GB"/>
              <a:t>positive</a:t>
            </a:r>
            <a:r>
              <a:rPr lang="en-GB"/>
              <a:t> and negative </a:t>
            </a:r>
            <a:r>
              <a:rPr lang="en-GB"/>
              <a:t>signals</a:t>
            </a:r>
            <a:r>
              <a:rPr lang="en-GB"/>
              <a:t> as the behavior to understand what has been learnt.</a:t>
            </a:r>
            <a:endParaRPr/>
          </a:p>
        </p:txBody>
      </p:sp>
      <p:pic>
        <p:nvPicPr>
          <p:cNvPr id="675" name="Google Shape;675;p104"/>
          <p:cNvPicPr preferRelativeResize="0"/>
          <p:nvPr/>
        </p:nvPicPr>
        <p:blipFill>
          <a:blip r:embed="rId3">
            <a:alphaModFix/>
          </a:blip>
          <a:stretch>
            <a:fillRect/>
          </a:stretch>
        </p:blipFill>
        <p:spPr>
          <a:xfrm>
            <a:off x="1714500" y="428625"/>
            <a:ext cx="5715000" cy="4286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1000"/>
                                        <p:tgtEl>
                                          <p:spTgt spid="6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Goal of </a:t>
            </a:r>
            <a:r>
              <a:rPr lang="en-GB"/>
              <a:t>Reinforcement</a:t>
            </a:r>
            <a:r>
              <a:rPr lang="en-GB"/>
              <a:t> learning is to</a:t>
            </a:r>
            <a:endParaRPr/>
          </a:p>
        </p:txBody>
      </p:sp>
      <p:sp>
        <p:nvSpPr>
          <p:cNvPr id="681" name="Google Shape;681;p10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Find a Suitable model that would maximize the total cumulative reward and make a very approximate result that might help in making some more </a:t>
            </a:r>
            <a:r>
              <a:rPr lang="en-GB"/>
              <a:t>discussion</a:t>
            </a:r>
            <a:r>
              <a:rPr lang="en-GB"/>
              <a:t>.</a:t>
            </a:r>
            <a:endParaRPr/>
          </a:p>
          <a:p>
            <a:pPr indent="-342900" lvl="0" marL="457200" rtl="0" algn="l">
              <a:spcBef>
                <a:spcPts val="0"/>
              </a:spcBef>
              <a:spcAft>
                <a:spcPts val="0"/>
              </a:spcAft>
              <a:buSzPts val="1800"/>
              <a:buChar char="●"/>
            </a:pPr>
            <a:r>
              <a:rPr lang="en-GB"/>
              <a:t>Maximize the points won in a </a:t>
            </a:r>
            <a:r>
              <a:rPr lang="en-GB"/>
              <a:t>training</a:t>
            </a:r>
            <a:r>
              <a:rPr lang="en-GB"/>
              <a:t> over many examples </a:t>
            </a:r>
            <a:endParaRPr/>
          </a:p>
          <a:p>
            <a:pPr indent="-342900" lvl="0" marL="457200" rtl="0" algn="l">
              <a:spcBef>
                <a:spcPts val="0"/>
              </a:spcBef>
              <a:spcAft>
                <a:spcPts val="0"/>
              </a:spcAft>
              <a:buSzPts val="1800"/>
              <a:buChar char="●"/>
            </a:pPr>
            <a:r>
              <a:rPr lang="en-GB"/>
              <a:t>Penalize when they make </a:t>
            </a:r>
            <a:r>
              <a:rPr lang="en-GB"/>
              <a:t>wrong</a:t>
            </a:r>
            <a:r>
              <a:rPr lang="en-GB"/>
              <a:t> </a:t>
            </a:r>
            <a:r>
              <a:rPr lang="en-GB"/>
              <a:t>decisions</a:t>
            </a:r>
            <a:endParaRPr/>
          </a:p>
          <a:p>
            <a:pPr indent="-342900" lvl="0" marL="457200" rtl="0" algn="l">
              <a:spcBef>
                <a:spcPts val="0"/>
              </a:spcBef>
              <a:spcAft>
                <a:spcPts val="0"/>
              </a:spcAft>
              <a:buSzPts val="1800"/>
              <a:buChar char="●"/>
            </a:pPr>
            <a:r>
              <a:rPr lang="en-GB"/>
              <a:t>Reward </a:t>
            </a:r>
            <a:r>
              <a:rPr lang="en-GB"/>
              <a:t>where</a:t>
            </a:r>
            <a:r>
              <a:rPr lang="en-GB"/>
              <a:t> they make </a:t>
            </a:r>
            <a:r>
              <a:rPr lang="en-GB"/>
              <a:t>Right</a:t>
            </a:r>
            <a:r>
              <a:rPr lang="en-GB"/>
              <a:t> </a:t>
            </a:r>
            <a:r>
              <a:rPr lang="en-GB"/>
              <a:t>decision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Usually modelled as a “Markov </a:t>
            </a:r>
            <a:r>
              <a:rPr lang="en-GB"/>
              <a:t>Decision</a:t>
            </a:r>
            <a:r>
              <a:rPr lang="en-GB"/>
              <a:t> Process”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06"/>
          <p:cNvSpPr/>
          <p:nvPr/>
        </p:nvSpPr>
        <p:spPr>
          <a:xfrm>
            <a:off x="2255350" y="122575"/>
            <a:ext cx="4682400" cy="174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06"/>
          <p:cNvSpPr/>
          <p:nvPr/>
        </p:nvSpPr>
        <p:spPr>
          <a:xfrm>
            <a:off x="2255350" y="3069650"/>
            <a:ext cx="4682400" cy="174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8" name="Google Shape;688;p106"/>
          <p:cNvCxnSpPr/>
          <p:nvPr/>
        </p:nvCxnSpPr>
        <p:spPr>
          <a:xfrm>
            <a:off x="2647600" y="1863125"/>
            <a:ext cx="0" cy="1225800"/>
          </a:xfrm>
          <a:prstGeom prst="straightConnector1">
            <a:avLst/>
          </a:prstGeom>
          <a:noFill/>
          <a:ln cap="flat" cmpd="sng" w="76200">
            <a:solidFill>
              <a:schemeClr val="dk2"/>
            </a:solidFill>
            <a:prstDash val="solid"/>
            <a:round/>
            <a:headEnd len="med" w="med" type="none"/>
            <a:tailEnd len="med" w="med" type="triangle"/>
          </a:ln>
        </p:spPr>
      </p:cxnSp>
      <p:sp>
        <p:nvSpPr>
          <p:cNvPr id="689" name="Google Shape;689;p106"/>
          <p:cNvSpPr/>
          <p:nvPr/>
        </p:nvSpPr>
        <p:spPr>
          <a:xfrm>
            <a:off x="1194850" y="1035525"/>
            <a:ext cx="1058400" cy="27993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06"/>
          <p:cNvSpPr txBox="1"/>
          <p:nvPr/>
        </p:nvSpPr>
        <p:spPr>
          <a:xfrm>
            <a:off x="122575" y="231325"/>
            <a:ext cx="18630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900"/>
              <a:t>Penalty/ Reward</a:t>
            </a:r>
            <a:endParaRPr b="1" sz="2900"/>
          </a:p>
        </p:txBody>
      </p:sp>
      <p:sp>
        <p:nvSpPr>
          <p:cNvPr id="691" name="Google Shape;691;p106"/>
          <p:cNvSpPr txBox="1"/>
          <p:nvPr/>
        </p:nvSpPr>
        <p:spPr>
          <a:xfrm>
            <a:off x="3260450" y="2206325"/>
            <a:ext cx="1863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500"/>
              <a:t>Next State</a:t>
            </a:r>
            <a:endParaRPr b="1" sz="2500"/>
          </a:p>
        </p:txBody>
      </p:sp>
      <p:sp>
        <p:nvSpPr>
          <p:cNvPr id="692" name="Google Shape;692;p106"/>
          <p:cNvSpPr/>
          <p:nvPr/>
        </p:nvSpPr>
        <p:spPr>
          <a:xfrm>
            <a:off x="6939850" y="1091375"/>
            <a:ext cx="2010300" cy="27993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06"/>
          <p:cNvSpPr/>
          <p:nvPr/>
        </p:nvSpPr>
        <p:spPr>
          <a:xfrm>
            <a:off x="6937750" y="882525"/>
            <a:ext cx="1519800" cy="5694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06"/>
          <p:cNvSpPr txBox="1"/>
          <p:nvPr/>
        </p:nvSpPr>
        <p:spPr>
          <a:xfrm>
            <a:off x="7207325" y="4167500"/>
            <a:ext cx="18630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4100"/>
              <a:t>Action</a:t>
            </a:r>
            <a:endParaRPr b="1" sz="4100"/>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Application of the Robotics</a:t>
            </a:r>
            <a:endParaRPr/>
          </a:p>
        </p:txBody>
      </p:sp>
      <p:sp>
        <p:nvSpPr>
          <p:cNvPr id="700" name="Google Shape;700;p10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212529"/>
              </a:buClr>
              <a:buSzPts val="1200"/>
              <a:buChar char="●"/>
            </a:pPr>
            <a:r>
              <a:rPr lang="en-GB"/>
              <a:t>Robotics</a:t>
            </a:r>
            <a:endParaRPr/>
          </a:p>
          <a:p>
            <a:pPr indent="-304800" lvl="0" marL="457200" rtl="0" algn="l">
              <a:spcBef>
                <a:spcPts val="0"/>
              </a:spcBef>
              <a:spcAft>
                <a:spcPts val="0"/>
              </a:spcAft>
              <a:buClr>
                <a:srgbClr val="212529"/>
              </a:buClr>
              <a:buSzPts val="1200"/>
              <a:buChar char="●"/>
            </a:pPr>
            <a:r>
              <a:rPr lang="en-GB"/>
              <a:t>Business</a:t>
            </a:r>
            <a:r>
              <a:rPr lang="en-GB"/>
              <a:t> </a:t>
            </a:r>
            <a:r>
              <a:rPr lang="en-GB"/>
              <a:t>strategy</a:t>
            </a:r>
            <a:endParaRPr/>
          </a:p>
          <a:p>
            <a:pPr indent="-304800" lvl="0" marL="457200" rtl="0" algn="l">
              <a:spcBef>
                <a:spcPts val="0"/>
              </a:spcBef>
              <a:spcAft>
                <a:spcPts val="0"/>
              </a:spcAft>
              <a:buClr>
                <a:srgbClr val="212529"/>
              </a:buClr>
              <a:buSzPts val="1200"/>
              <a:buChar char="●"/>
            </a:pPr>
            <a:r>
              <a:rPr lang="en-GB"/>
              <a:t>Traffic Light Control</a:t>
            </a:r>
            <a:endParaRPr/>
          </a:p>
          <a:p>
            <a:pPr indent="-304800" lvl="0" marL="457200" rtl="0" algn="l">
              <a:spcBef>
                <a:spcPts val="0"/>
              </a:spcBef>
              <a:spcAft>
                <a:spcPts val="0"/>
              </a:spcAft>
              <a:buClr>
                <a:srgbClr val="212529"/>
              </a:buClr>
              <a:buSzPts val="1200"/>
              <a:buChar char="●"/>
            </a:pPr>
            <a:r>
              <a:rPr lang="en-GB"/>
              <a:t>Web system configuration</a:t>
            </a:r>
            <a:endParaRPr/>
          </a:p>
          <a:p>
            <a:pPr indent="-304800" lvl="0" marL="457200" rtl="0" algn="l">
              <a:spcBef>
                <a:spcPts val="0"/>
              </a:spcBef>
              <a:spcAft>
                <a:spcPts val="0"/>
              </a:spcAft>
              <a:buClr>
                <a:srgbClr val="212529"/>
              </a:buClr>
              <a:buSzPts val="1200"/>
              <a:buChar char="●"/>
            </a:pPr>
            <a:r>
              <a:rPr lang="en-GB"/>
              <a:t>NLP</a:t>
            </a:r>
            <a:endParaRPr/>
          </a:p>
          <a:p>
            <a:pPr indent="-298450" lvl="1" marL="914400" rtl="0" algn="l">
              <a:spcBef>
                <a:spcPts val="0"/>
              </a:spcBef>
              <a:spcAft>
                <a:spcPts val="0"/>
              </a:spcAft>
              <a:buClr>
                <a:schemeClr val="dk1"/>
              </a:buClr>
              <a:buSzPts val="1100"/>
              <a:buChar char="○"/>
            </a:pPr>
            <a:r>
              <a:rPr lang="en-GB" sz="1200">
                <a:solidFill>
                  <a:srgbClr val="212529"/>
                </a:solidFill>
                <a:highlight>
                  <a:srgbClr val="FFFFFF"/>
                </a:highlight>
              </a:rPr>
              <a:t>to personalize suggestions</a:t>
            </a:r>
            <a:endParaRPr sz="1200">
              <a:solidFill>
                <a:srgbClr val="212529"/>
              </a:solidFill>
              <a:highlight>
                <a:srgbClr val="FFFFFF"/>
              </a:highlight>
            </a:endParaRPr>
          </a:p>
          <a:p>
            <a:pPr indent="-298450" lvl="1" marL="914400" rtl="0" algn="l">
              <a:spcBef>
                <a:spcPts val="0"/>
              </a:spcBef>
              <a:spcAft>
                <a:spcPts val="0"/>
              </a:spcAft>
              <a:buClr>
                <a:schemeClr val="dk1"/>
              </a:buClr>
              <a:buSzPts val="1100"/>
              <a:buChar char="○"/>
            </a:pPr>
            <a:r>
              <a:rPr lang="en-GB" sz="1200">
                <a:solidFill>
                  <a:srgbClr val="212529"/>
                </a:solidFill>
                <a:highlight>
                  <a:srgbClr val="FFFFFF"/>
                </a:highlight>
              </a:rPr>
              <a:t>deliver more meaningful notifications to users</a:t>
            </a:r>
            <a:endParaRPr sz="1200">
              <a:solidFill>
                <a:srgbClr val="212529"/>
              </a:solidFill>
              <a:highlight>
                <a:srgbClr val="FFFFFF"/>
              </a:highlight>
            </a:endParaRPr>
          </a:p>
          <a:p>
            <a:pPr indent="-298450" lvl="1" marL="914400" rtl="0" algn="l">
              <a:spcBef>
                <a:spcPts val="0"/>
              </a:spcBef>
              <a:spcAft>
                <a:spcPts val="0"/>
              </a:spcAft>
              <a:buClr>
                <a:schemeClr val="dk1"/>
              </a:buClr>
              <a:buSzPts val="1100"/>
              <a:buChar char="○"/>
            </a:pPr>
            <a:r>
              <a:rPr lang="en-GB" sz="1200">
                <a:solidFill>
                  <a:srgbClr val="212529"/>
                </a:solidFill>
                <a:highlight>
                  <a:srgbClr val="FFFFFF"/>
                </a:highlight>
              </a:rPr>
              <a:t>optimize video streaming quality. </a:t>
            </a:r>
            <a:endParaRPr sz="1200">
              <a:solidFill>
                <a:srgbClr val="212529"/>
              </a:solidFill>
              <a:highlight>
                <a:srgbClr val="FFFFFF"/>
              </a:highlight>
            </a:endParaRPr>
          </a:p>
          <a:p>
            <a:pPr indent="-304800" lvl="0" marL="457200" rtl="0" algn="l">
              <a:spcBef>
                <a:spcPts val="0"/>
              </a:spcBef>
              <a:spcAft>
                <a:spcPts val="0"/>
              </a:spcAft>
              <a:buClr>
                <a:srgbClr val="212529"/>
              </a:buClr>
              <a:buSzPts val="1200"/>
              <a:buChar char="●"/>
            </a:pPr>
            <a:r>
              <a:rPr lang="en-GB"/>
              <a:t>Gaming</a:t>
            </a:r>
            <a:endParaRPr/>
          </a:p>
          <a:p>
            <a:pPr indent="-304800" lvl="0" marL="457200" rtl="0" algn="l">
              <a:spcBef>
                <a:spcPts val="0"/>
              </a:spcBef>
              <a:spcAft>
                <a:spcPts val="0"/>
              </a:spcAft>
              <a:buClr>
                <a:srgbClr val="212529"/>
              </a:buClr>
              <a:buSzPts val="1200"/>
              <a:buChar char="●"/>
            </a:pPr>
            <a:r>
              <a:rPr lang="en-GB"/>
              <a:t>Bidding</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Some core and Canonical Problems in </a:t>
            </a:r>
            <a:r>
              <a:rPr lang="en-GB"/>
              <a:t>Deep Learning</a:t>
            </a:r>
            <a:endParaRPr/>
          </a:p>
        </p:txBody>
      </p:sp>
      <p:sp>
        <p:nvSpPr>
          <p:cNvPr id="706" name="Google Shape;706;p10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Basically we find this as the situation:</a:t>
            </a:r>
            <a:endParaRPr/>
          </a:p>
          <a:p>
            <a:pPr indent="0" lvl="0" marL="0" rtl="0" algn="l">
              <a:spcBef>
                <a:spcPts val="1200"/>
              </a:spcBef>
              <a:spcAft>
                <a:spcPts val="0"/>
              </a:spcAft>
              <a:buNone/>
            </a:pPr>
            <a:r>
              <a:rPr lang="en-GB"/>
              <a:t>Model should perform well on training data and new test data</a:t>
            </a:r>
            <a:endParaRPr/>
          </a:p>
          <a:p>
            <a:pPr indent="0" lvl="0" marL="0" rtl="0" algn="l">
              <a:spcBef>
                <a:spcPts val="1200"/>
              </a:spcBef>
              <a:spcAft>
                <a:spcPts val="1200"/>
              </a:spcAft>
              <a:buNone/>
            </a:pPr>
            <a:r>
              <a:rPr lang="en-GB"/>
              <a:t>Most </a:t>
            </a:r>
            <a:r>
              <a:rPr lang="en-GB"/>
              <a:t>common</a:t>
            </a:r>
            <a:r>
              <a:rPr lang="en-GB"/>
              <a:t> </a:t>
            </a:r>
            <a:r>
              <a:rPr lang="en-GB"/>
              <a:t>problem</a:t>
            </a:r>
            <a:r>
              <a:rPr lang="en-GB"/>
              <a:t> faced will always be overfitting</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 the data points as the example is here</a:t>
            </a:r>
            <a:endParaRPr/>
          </a:p>
        </p:txBody>
      </p:sp>
      <p:cxnSp>
        <p:nvCxnSpPr>
          <p:cNvPr id="712" name="Google Shape;712;p109"/>
          <p:cNvCxnSpPr/>
          <p:nvPr/>
        </p:nvCxnSpPr>
        <p:spPr>
          <a:xfrm>
            <a:off x="660007" y="4274498"/>
            <a:ext cx="3277200" cy="15600"/>
          </a:xfrm>
          <a:prstGeom prst="straightConnector1">
            <a:avLst/>
          </a:prstGeom>
          <a:noFill/>
          <a:ln cap="flat" cmpd="sng" w="9525">
            <a:solidFill>
              <a:schemeClr val="dk2"/>
            </a:solidFill>
            <a:prstDash val="solid"/>
            <a:round/>
            <a:headEnd len="med" w="med" type="none"/>
            <a:tailEnd len="med" w="med" type="triangle"/>
          </a:ln>
        </p:spPr>
      </p:cxnSp>
      <p:cxnSp>
        <p:nvCxnSpPr>
          <p:cNvPr id="713" name="Google Shape;713;p109"/>
          <p:cNvCxnSpPr/>
          <p:nvPr/>
        </p:nvCxnSpPr>
        <p:spPr>
          <a:xfrm rot="10800000">
            <a:off x="659866" y="1149341"/>
            <a:ext cx="14700" cy="3140700"/>
          </a:xfrm>
          <a:prstGeom prst="straightConnector1">
            <a:avLst/>
          </a:prstGeom>
          <a:noFill/>
          <a:ln cap="flat" cmpd="sng" w="9525">
            <a:solidFill>
              <a:schemeClr val="dk2"/>
            </a:solidFill>
            <a:prstDash val="solid"/>
            <a:round/>
            <a:headEnd len="med" w="med" type="none"/>
            <a:tailEnd len="med" w="med" type="triangle"/>
          </a:ln>
        </p:spPr>
      </p:cxnSp>
      <p:sp>
        <p:nvSpPr>
          <p:cNvPr id="714" name="Google Shape;714;p109"/>
          <p:cNvSpPr/>
          <p:nvPr/>
        </p:nvSpPr>
        <p:spPr>
          <a:xfrm flipH="1">
            <a:off x="984375" y="10809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09"/>
          <p:cNvSpPr/>
          <p:nvPr/>
        </p:nvSpPr>
        <p:spPr>
          <a:xfrm flipH="1">
            <a:off x="817725" y="33292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09"/>
          <p:cNvSpPr/>
          <p:nvPr/>
        </p:nvSpPr>
        <p:spPr>
          <a:xfrm flipH="1">
            <a:off x="1392200" y="33990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09"/>
          <p:cNvSpPr/>
          <p:nvPr/>
        </p:nvSpPr>
        <p:spPr>
          <a:xfrm flipH="1">
            <a:off x="1758000" y="31655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09"/>
          <p:cNvSpPr/>
          <p:nvPr/>
        </p:nvSpPr>
        <p:spPr>
          <a:xfrm flipH="1">
            <a:off x="1441575" y="38794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09"/>
          <p:cNvSpPr/>
          <p:nvPr/>
        </p:nvSpPr>
        <p:spPr>
          <a:xfrm flipH="1">
            <a:off x="906975" y="37270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09"/>
          <p:cNvSpPr/>
          <p:nvPr/>
        </p:nvSpPr>
        <p:spPr>
          <a:xfrm flipH="1">
            <a:off x="1362875" y="28374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09"/>
          <p:cNvSpPr/>
          <p:nvPr/>
        </p:nvSpPr>
        <p:spPr>
          <a:xfrm flipH="1">
            <a:off x="906975" y="2479513"/>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09"/>
          <p:cNvSpPr/>
          <p:nvPr/>
        </p:nvSpPr>
        <p:spPr>
          <a:xfrm flipH="1">
            <a:off x="1026400" y="3377013"/>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09"/>
          <p:cNvSpPr/>
          <p:nvPr/>
        </p:nvSpPr>
        <p:spPr>
          <a:xfrm flipH="1">
            <a:off x="1026388" y="27539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09"/>
          <p:cNvSpPr/>
          <p:nvPr/>
        </p:nvSpPr>
        <p:spPr>
          <a:xfrm flipH="1">
            <a:off x="2025300" y="29650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09"/>
          <p:cNvSpPr/>
          <p:nvPr/>
        </p:nvSpPr>
        <p:spPr>
          <a:xfrm flipH="1">
            <a:off x="2038238" y="37270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09"/>
          <p:cNvSpPr/>
          <p:nvPr/>
        </p:nvSpPr>
        <p:spPr>
          <a:xfrm flipH="1">
            <a:off x="2330100" y="32698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09"/>
          <p:cNvSpPr/>
          <p:nvPr/>
        </p:nvSpPr>
        <p:spPr>
          <a:xfrm flipH="1">
            <a:off x="2197638" y="3492163"/>
            <a:ext cx="189900" cy="216300"/>
          </a:xfrm>
          <a:prstGeom prst="mathPlus">
            <a:avLst>
              <a:gd fmla="val 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09"/>
          <p:cNvSpPr/>
          <p:nvPr/>
        </p:nvSpPr>
        <p:spPr>
          <a:xfrm flipH="1">
            <a:off x="2634900" y="35746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09"/>
          <p:cNvSpPr/>
          <p:nvPr/>
        </p:nvSpPr>
        <p:spPr>
          <a:xfrm flipH="1">
            <a:off x="2647838" y="31670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09"/>
          <p:cNvSpPr/>
          <p:nvPr/>
        </p:nvSpPr>
        <p:spPr>
          <a:xfrm flipH="1">
            <a:off x="2939700" y="38794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09"/>
          <p:cNvSpPr/>
          <p:nvPr/>
        </p:nvSpPr>
        <p:spPr>
          <a:xfrm flipH="1">
            <a:off x="1021875" y="16430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09"/>
          <p:cNvSpPr/>
          <p:nvPr/>
        </p:nvSpPr>
        <p:spPr>
          <a:xfrm flipH="1">
            <a:off x="1269225" y="23926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09"/>
          <p:cNvSpPr/>
          <p:nvPr/>
        </p:nvSpPr>
        <p:spPr>
          <a:xfrm flipH="1">
            <a:off x="1326675" y="1947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09"/>
          <p:cNvSpPr/>
          <p:nvPr/>
        </p:nvSpPr>
        <p:spPr>
          <a:xfrm flipH="1">
            <a:off x="2953950" y="14557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09"/>
          <p:cNvSpPr/>
          <p:nvPr/>
        </p:nvSpPr>
        <p:spPr>
          <a:xfrm flipH="1">
            <a:off x="1873013" y="22239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09"/>
          <p:cNvSpPr/>
          <p:nvPr/>
        </p:nvSpPr>
        <p:spPr>
          <a:xfrm flipH="1">
            <a:off x="1694088" y="28147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09"/>
          <p:cNvSpPr/>
          <p:nvPr/>
        </p:nvSpPr>
        <p:spPr>
          <a:xfrm flipH="1">
            <a:off x="1571125" y="232417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09"/>
          <p:cNvSpPr/>
          <p:nvPr/>
        </p:nvSpPr>
        <p:spPr>
          <a:xfrm flipH="1">
            <a:off x="2088675" y="2709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09"/>
          <p:cNvSpPr/>
          <p:nvPr/>
        </p:nvSpPr>
        <p:spPr>
          <a:xfrm flipH="1">
            <a:off x="2398475" y="38815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09"/>
          <p:cNvSpPr/>
          <p:nvPr/>
        </p:nvSpPr>
        <p:spPr>
          <a:xfrm flipH="1">
            <a:off x="2928075" y="2212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09"/>
          <p:cNvSpPr/>
          <p:nvPr/>
        </p:nvSpPr>
        <p:spPr>
          <a:xfrm flipH="1">
            <a:off x="2329838" y="261877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09"/>
          <p:cNvSpPr/>
          <p:nvPr/>
        </p:nvSpPr>
        <p:spPr>
          <a:xfrm flipH="1">
            <a:off x="2788050" y="29699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09"/>
          <p:cNvSpPr/>
          <p:nvPr/>
        </p:nvSpPr>
        <p:spPr>
          <a:xfrm flipH="1">
            <a:off x="2850675" y="3471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09"/>
          <p:cNvSpPr/>
          <p:nvPr/>
        </p:nvSpPr>
        <p:spPr>
          <a:xfrm flipH="1">
            <a:off x="2965575" y="26171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09"/>
          <p:cNvSpPr/>
          <p:nvPr/>
        </p:nvSpPr>
        <p:spPr>
          <a:xfrm flipH="1">
            <a:off x="3155475" y="37766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09"/>
          <p:cNvSpPr/>
          <p:nvPr/>
        </p:nvSpPr>
        <p:spPr>
          <a:xfrm flipH="1">
            <a:off x="3550800" y="27642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09"/>
          <p:cNvSpPr/>
          <p:nvPr/>
        </p:nvSpPr>
        <p:spPr>
          <a:xfrm flipH="1">
            <a:off x="3460275" y="40814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09"/>
          <p:cNvSpPr/>
          <p:nvPr/>
        </p:nvSpPr>
        <p:spPr>
          <a:xfrm flipH="1">
            <a:off x="1694100" y="11493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09"/>
          <p:cNvSpPr/>
          <p:nvPr/>
        </p:nvSpPr>
        <p:spPr>
          <a:xfrm flipH="1">
            <a:off x="1289175" y="13857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09"/>
          <p:cNvSpPr/>
          <p:nvPr/>
        </p:nvSpPr>
        <p:spPr>
          <a:xfrm flipH="1">
            <a:off x="753275" y="16905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09"/>
          <p:cNvSpPr/>
          <p:nvPr/>
        </p:nvSpPr>
        <p:spPr>
          <a:xfrm flipH="1">
            <a:off x="1593975" y="16905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09"/>
          <p:cNvSpPr/>
          <p:nvPr/>
        </p:nvSpPr>
        <p:spPr>
          <a:xfrm flipH="1">
            <a:off x="1758000" y="14828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09"/>
          <p:cNvSpPr/>
          <p:nvPr/>
        </p:nvSpPr>
        <p:spPr>
          <a:xfrm flipH="1">
            <a:off x="2184825" y="19677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9"/>
          <p:cNvSpPr/>
          <p:nvPr/>
        </p:nvSpPr>
        <p:spPr>
          <a:xfrm flipH="1">
            <a:off x="906975" y="22051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9"/>
          <p:cNvSpPr/>
          <p:nvPr/>
        </p:nvSpPr>
        <p:spPr>
          <a:xfrm flipH="1">
            <a:off x="2203575" y="23001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9"/>
          <p:cNvSpPr/>
          <p:nvPr/>
        </p:nvSpPr>
        <p:spPr>
          <a:xfrm flipH="1">
            <a:off x="2355975" y="24525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9"/>
          <p:cNvSpPr/>
          <p:nvPr/>
        </p:nvSpPr>
        <p:spPr>
          <a:xfrm flipH="1">
            <a:off x="2355975" y="14828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09"/>
          <p:cNvSpPr/>
          <p:nvPr/>
        </p:nvSpPr>
        <p:spPr>
          <a:xfrm flipH="1">
            <a:off x="2839050" y="22642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09"/>
          <p:cNvSpPr/>
          <p:nvPr/>
        </p:nvSpPr>
        <p:spPr>
          <a:xfrm flipH="1">
            <a:off x="2623275" y="1947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9"/>
          <p:cNvSpPr/>
          <p:nvPr/>
        </p:nvSpPr>
        <p:spPr>
          <a:xfrm flipH="1">
            <a:off x="2965575" y="30621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09"/>
          <p:cNvSpPr/>
          <p:nvPr/>
        </p:nvSpPr>
        <p:spPr>
          <a:xfrm flipH="1">
            <a:off x="3690075" y="30690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09"/>
          <p:cNvSpPr/>
          <p:nvPr/>
        </p:nvSpPr>
        <p:spPr>
          <a:xfrm flipH="1">
            <a:off x="3270375" y="33669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09"/>
          <p:cNvSpPr/>
          <p:nvPr/>
        </p:nvSpPr>
        <p:spPr>
          <a:xfrm flipH="1">
            <a:off x="2743538" y="27156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9"/>
          <p:cNvSpPr/>
          <p:nvPr/>
        </p:nvSpPr>
        <p:spPr>
          <a:xfrm flipH="1">
            <a:off x="3575175" y="36717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9"/>
          <p:cNvSpPr txBox="1"/>
          <p:nvPr/>
        </p:nvSpPr>
        <p:spPr>
          <a:xfrm>
            <a:off x="4756600" y="1228975"/>
            <a:ext cx="4153500" cy="2524200"/>
          </a:xfrm>
          <a:prstGeom prst="rect">
            <a:avLst/>
          </a:prstGeom>
          <a:noFill/>
          <a:ln>
            <a:noFill/>
          </a:ln>
        </p:spPr>
        <p:txBody>
          <a:bodyPr anchorCtr="0" anchor="t" bIns="91425" lIns="91425" spcFirstLastPara="1" rIns="91425" wrap="square" tIns="91425">
            <a:spAutoFit/>
          </a:bodyPr>
          <a:lstStyle/>
          <a:p>
            <a:pPr indent="-349250" lvl="0" marL="457200" rtl="0" algn="just">
              <a:spcBef>
                <a:spcPts val="0"/>
              </a:spcBef>
              <a:spcAft>
                <a:spcPts val="0"/>
              </a:spcAft>
              <a:buSzPts val="1900"/>
              <a:buChar char="●"/>
            </a:pPr>
            <a:r>
              <a:rPr lang="en-GB" sz="1900"/>
              <a:t>Data is Skew</a:t>
            </a:r>
            <a:endParaRPr sz="1900"/>
          </a:p>
          <a:p>
            <a:pPr indent="-349250" lvl="0" marL="457200" rtl="0" algn="just">
              <a:spcBef>
                <a:spcPts val="0"/>
              </a:spcBef>
              <a:spcAft>
                <a:spcPts val="0"/>
              </a:spcAft>
              <a:buSzPts val="1900"/>
              <a:buChar char="●"/>
            </a:pPr>
            <a:r>
              <a:rPr lang="en-GB" sz="1900"/>
              <a:t>Data is Random</a:t>
            </a:r>
            <a:endParaRPr sz="1900"/>
          </a:p>
          <a:p>
            <a:pPr indent="-349250" lvl="0" marL="457200" rtl="0" algn="just">
              <a:spcBef>
                <a:spcPts val="0"/>
              </a:spcBef>
              <a:spcAft>
                <a:spcPts val="0"/>
              </a:spcAft>
              <a:buSzPts val="1900"/>
              <a:buChar char="●"/>
            </a:pPr>
            <a:r>
              <a:rPr lang="en-GB" sz="1900"/>
              <a:t>They </a:t>
            </a:r>
            <a:r>
              <a:rPr lang="en-GB" sz="1900"/>
              <a:t>don't</a:t>
            </a:r>
            <a:r>
              <a:rPr lang="en-GB" sz="1900"/>
              <a:t> care </a:t>
            </a:r>
            <a:r>
              <a:rPr lang="en-GB" sz="1900"/>
              <a:t>anything</a:t>
            </a:r>
            <a:r>
              <a:rPr lang="en-GB" sz="1900"/>
              <a:t> and anybody they are just generated</a:t>
            </a:r>
            <a:endParaRPr sz="1900"/>
          </a:p>
          <a:p>
            <a:pPr indent="-349250" lvl="0" marL="457200" rtl="0" algn="just">
              <a:spcBef>
                <a:spcPts val="0"/>
              </a:spcBef>
              <a:spcAft>
                <a:spcPts val="0"/>
              </a:spcAft>
              <a:buSzPts val="1900"/>
              <a:buChar char="●"/>
            </a:pPr>
            <a:r>
              <a:rPr lang="en-GB" sz="1900"/>
              <a:t>They are collected to make sense and make a model</a:t>
            </a:r>
            <a:endParaRPr sz="1900"/>
          </a:p>
          <a:p>
            <a:pPr indent="-349250" lvl="0" marL="457200" rtl="0" algn="just">
              <a:spcBef>
                <a:spcPts val="0"/>
              </a:spcBef>
              <a:spcAft>
                <a:spcPts val="0"/>
              </a:spcAft>
              <a:buSzPts val="1900"/>
              <a:buChar char="●"/>
            </a:pPr>
            <a:r>
              <a:rPr lang="en-GB" sz="1900"/>
              <a:t>They are collected to make the right </a:t>
            </a:r>
            <a:r>
              <a:rPr lang="en-GB" sz="1900"/>
              <a:t>decision</a:t>
            </a:r>
            <a:r>
              <a:rPr lang="en-GB" sz="1900"/>
              <a:t> from the model</a:t>
            </a:r>
            <a:endParaRPr sz="190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Underfitting</a:t>
            </a:r>
            <a:endParaRPr/>
          </a:p>
        </p:txBody>
      </p:sp>
      <p:cxnSp>
        <p:nvCxnSpPr>
          <p:cNvPr id="771" name="Google Shape;771;p110"/>
          <p:cNvCxnSpPr/>
          <p:nvPr/>
        </p:nvCxnSpPr>
        <p:spPr>
          <a:xfrm>
            <a:off x="660007" y="4274498"/>
            <a:ext cx="3277200" cy="15600"/>
          </a:xfrm>
          <a:prstGeom prst="straightConnector1">
            <a:avLst/>
          </a:prstGeom>
          <a:noFill/>
          <a:ln cap="flat" cmpd="sng" w="9525">
            <a:solidFill>
              <a:schemeClr val="dk2"/>
            </a:solidFill>
            <a:prstDash val="solid"/>
            <a:round/>
            <a:headEnd len="med" w="med" type="none"/>
            <a:tailEnd len="med" w="med" type="triangle"/>
          </a:ln>
        </p:spPr>
      </p:cxnSp>
      <p:cxnSp>
        <p:nvCxnSpPr>
          <p:cNvPr id="772" name="Google Shape;772;p110"/>
          <p:cNvCxnSpPr/>
          <p:nvPr/>
        </p:nvCxnSpPr>
        <p:spPr>
          <a:xfrm rot="10800000">
            <a:off x="659866" y="1149341"/>
            <a:ext cx="14700" cy="3140700"/>
          </a:xfrm>
          <a:prstGeom prst="straightConnector1">
            <a:avLst/>
          </a:prstGeom>
          <a:noFill/>
          <a:ln cap="flat" cmpd="sng" w="9525">
            <a:solidFill>
              <a:schemeClr val="dk2"/>
            </a:solidFill>
            <a:prstDash val="solid"/>
            <a:round/>
            <a:headEnd len="med" w="med" type="none"/>
            <a:tailEnd len="med" w="med" type="triangle"/>
          </a:ln>
        </p:spPr>
      </p:cxnSp>
      <p:sp>
        <p:nvSpPr>
          <p:cNvPr id="773" name="Google Shape;773;p110"/>
          <p:cNvSpPr/>
          <p:nvPr/>
        </p:nvSpPr>
        <p:spPr>
          <a:xfrm flipH="1">
            <a:off x="984375" y="10809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10"/>
          <p:cNvSpPr/>
          <p:nvPr/>
        </p:nvSpPr>
        <p:spPr>
          <a:xfrm flipH="1">
            <a:off x="817725" y="33292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10"/>
          <p:cNvSpPr/>
          <p:nvPr/>
        </p:nvSpPr>
        <p:spPr>
          <a:xfrm flipH="1">
            <a:off x="1392200" y="33990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10"/>
          <p:cNvSpPr/>
          <p:nvPr/>
        </p:nvSpPr>
        <p:spPr>
          <a:xfrm flipH="1">
            <a:off x="1758000" y="31655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10"/>
          <p:cNvSpPr/>
          <p:nvPr/>
        </p:nvSpPr>
        <p:spPr>
          <a:xfrm flipH="1">
            <a:off x="1441575" y="38794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10"/>
          <p:cNvSpPr/>
          <p:nvPr/>
        </p:nvSpPr>
        <p:spPr>
          <a:xfrm flipH="1">
            <a:off x="906975" y="37270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10"/>
          <p:cNvSpPr/>
          <p:nvPr/>
        </p:nvSpPr>
        <p:spPr>
          <a:xfrm flipH="1">
            <a:off x="1362875" y="28374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10"/>
          <p:cNvSpPr/>
          <p:nvPr/>
        </p:nvSpPr>
        <p:spPr>
          <a:xfrm flipH="1">
            <a:off x="906975" y="2479513"/>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10"/>
          <p:cNvSpPr/>
          <p:nvPr/>
        </p:nvSpPr>
        <p:spPr>
          <a:xfrm flipH="1">
            <a:off x="1026400" y="3377013"/>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10"/>
          <p:cNvSpPr/>
          <p:nvPr/>
        </p:nvSpPr>
        <p:spPr>
          <a:xfrm flipH="1">
            <a:off x="1026388" y="27539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10"/>
          <p:cNvSpPr/>
          <p:nvPr/>
        </p:nvSpPr>
        <p:spPr>
          <a:xfrm flipH="1">
            <a:off x="2025300" y="29650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10"/>
          <p:cNvSpPr/>
          <p:nvPr/>
        </p:nvSpPr>
        <p:spPr>
          <a:xfrm flipH="1">
            <a:off x="2038238" y="37270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10"/>
          <p:cNvSpPr/>
          <p:nvPr/>
        </p:nvSpPr>
        <p:spPr>
          <a:xfrm flipH="1">
            <a:off x="2330100" y="32698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10"/>
          <p:cNvSpPr/>
          <p:nvPr/>
        </p:nvSpPr>
        <p:spPr>
          <a:xfrm flipH="1">
            <a:off x="2197638" y="3492163"/>
            <a:ext cx="189900" cy="216300"/>
          </a:xfrm>
          <a:prstGeom prst="mathPlus">
            <a:avLst>
              <a:gd fmla="val 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10"/>
          <p:cNvSpPr/>
          <p:nvPr/>
        </p:nvSpPr>
        <p:spPr>
          <a:xfrm flipH="1">
            <a:off x="2634900" y="35746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10"/>
          <p:cNvSpPr/>
          <p:nvPr/>
        </p:nvSpPr>
        <p:spPr>
          <a:xfrm flipH="1">
            <a:off x="2647838" y="31670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10"/>
          <p:cNvSpPr/>
          <p:nvPr/>
        </p:nvSpPr>
        <p:spPr>
          <a:xfrm flipH="1">
            <a:off x="2939700" y="38794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10"/>
          <p:cNvSpPr/>
          <p:nvPr/>
        </p:nvSpPr>
        <p:spPr>
          <a:xfrm flipH="1">
            <a:off x="1021875" y="16430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10"/>
          <p:cNvSpPr/>
          <p:nvPr/>
        </p:nvSpPr>
        <p:spPr>
          <a:xfrm flipH="1">
            <a:off x="1269225" y="23926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10"/>
          <p:cNvSpPr/>
          <p:nvPr/>
        </p:nvSpPr>
        <p:spPr>
          <a:xfrm flipH="1">
            <a:off x="1326675" y="1947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10"/>
          <p:cNvSpPr/>
          <p:nvPr/>
        </p:nvSpPr>
        <p:spPr>
          <a:xfrm flipH="1">
            <a:off x="2953950" y="14557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10"/>
          <p:cNvSpPr/>
          <p:nvPr/>
        </p:nvSpPr>
        <p:spPr>
          <a:xfrm flipH="1">
            <a:off x="1873013" y="22239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10"/>
          <p:cNvSpPr/>
          <p:nvPr/>
        </p:nvSpPr>
        <p:spPr>
          <a:xfrm flipH="1">
            <a:off x="1694088" y="28147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10"/>
          <p:cNvSpPr/>
          <p:nvPr/>
        </p:nvSpPr>
        <p:spPr>
          <a:xfrm flipH="1">
            <a:off x="1571125" y="232417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10"/>
          <p:cNvSpPr/>
          <p:nvPr/>
        </p:nvSpPr>
        <p:spPr>
          <a:xfrm flipH="1">
            <a:off x="2088675" y="2709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10"/>
          <p:cNvSpPr/>
          <p:nvPr/>
        </p:nvSpPr>
        <p:spPr>
          <a:xfrm flipH="1">
            <a:off x="2398475" y="38815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10"/>
          <p:cNvSpPr/>
          <p:nvPr/>
        </p:nvSpPr>
        <p:spPr>
          <a:xfrm flipH="1">
            <a:off x="2928075" y="2212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10"/>
          <p:cNvSpPr/>
          <p:nvPr/>
        </p:nvSpPr>
        <p:spPr>
          <a:xfrm flipH="1">
            <a:off x="2329838" y="261877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10"/>
          <p:cNvSpPr/>
          <p:nvPr/>
        </p:nvSpPr>
        <p:spPr>
          <a:xfrm flipH="1">
            <a:off x="2788050" y="29699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10"/>
          <p:cNvSpPr/>
          <p:nvPr/>
        </p:nvSpPr>
        <p:spPr>
          <a:xfrm flipH="1">
            <a:off x="2850675" y="3471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10"/>
          <p:cNvSpPr/>
          <p:nvPr/>
        </p:nvSpPr>
        <p:spPr>
          <a:xfrm flipH="1">
            <a:off x="2965575" y="26171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10"/>
          <p:cNvSpPr/>
          <p:nvPr/>
        </p:nvSpPr>
        <p:spPr>
          <a:xfrm flipH="1">
            <a:off x="3155475" y="37766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10"/>
          <p:cNvSpPr/>
          <p:nvPr/>
        </p:nvSpPr>
        <p:spPr>
          <a:xfrm flipH="1">
            <a:off x="3550800" y="27642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10"/>
          <p:cNvSpPr/>
          <p:nvPr/>
        </p:nvSpPr>
        <p:spPr>
          <a:xfrm flipH="1">
            <a:off x="3460275" y="40814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10"/>
          <p:cNvSpPr/>
          <p:nvPr/>
        </p:nvSpPr>
        <p:spPr>
          <a:xfrm flipH="1">
            <a:off x="1694100" y="11493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10"/>
          <p:cNvSpPr/>
          <p:nvPr/>
        </p:nvSpPr>
        <p:spPr>
          <a:xfrm flipH="1">
            <a:off x="1289175" y="13857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10"/>
          <p:cNvSpPr/>
          <p:nvPr/>
        </p:nvSpPr>
        <p:spPr>
          <a:xfrm flipH="1">
            <a:off x="753275" y="16905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10"/>
          <p:cNvSpPr/>
          <p:nvPr/>
        </p:nvSpPr>
        <p:spPr>
          <a:xfrm flipH="1">
            <a:off x="1593975" y="16905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10"/>
          <p:cNvSpPr/>
          <p:nvPr/>
        </p:nvSpPr>
        <p:spPr>
          <a:xfrm flipH="1">
            <a:off x="1758000" y="14828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10"/>
          <p:cNvSpPr/>
          <p:nvPr/>
        </p:nvSpPr>
        <p:spPr>
          <a:xfrm flipH="1">
            <a:off x="2184825" y="19677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10"/>
          <p:cNvSpPr/>
          <p:nvPr/>
        </p:nvSpPr>
        <p:spPr>
          <a:xfrm flipH="1">
            <a:off x="906975" y="22051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10"/>
          <p:cNvSpPr/>
          <p:nvPr/>
        </p:nvSpPr>
        <p:spPr>
          <a:xfrm flipH="1">
            <a:off x="2203575" y="23001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10"/>
          <p:cNvSpPr/>
          <p:nvPr/>
        </p:nvSpPr>
        <p:spPr>
          <a:xfrm flipH="1">
            <a:off x="2355975" y="24525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10"/>
          <p:cNvSpPr/>
          <p:nvPr/>
        </p:nvSpPr>
        <p:spPr>
          <a:xfrm flipH="1">
            <a:off x="2355975" y="14828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10"/>
          <p:cNvSpPr/>
          <p:nvPr/>
        </p:nvSpPr>
        <p:spPr>
          <a:xfrm flipH="1">
            <a:off x="2839050" y="22642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10"/>
          <p:cNvSpPr/>
          <p:nvPr/>
        </p:nvSpPr>
        <p:spPr>
          <a:xfrm flipH="1">
            <a:off x="2623275" y="1947825"/>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10"/>
          <p:cNvSpPr/>
          <p:nvPr/>
        </p:nvSpPr>
        <p:spPr>
          <a:xfrm flipH="1">
            <a:off x="2965575" y="30621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10"/>
          <p:cNvSpPr/>
          <p:nvPr/>
        </p:nvSpPr>
        <p:spPr>
          <a:xfrm flipH="1">
            <a:off x="3690075" y="306900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10"/>
          <p:cNvSpPr/>
          <p:nvPr/>
        </p:nvSpPr>
        <p:spPr>
          <a:xfrm flipH="1">
            <a:off x="3270375" y="33669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10"/>
          <p:cNvSpPr/>
          <p:nvPr/>
        </p:nvSpPr>
        <p:spPr>
          <a:xfrm flipH="1">
            <a:off x="2743538" y="2715638"/>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10"/>
          <p:cNvSpPr/>
          <p:nvPr/>
        </p:nvSpPr>
        <p:spPr>
          <a:xfrm flipH="1">
            <a:off x="3575175" y="3671750"/>
            <a:ext cx="189900" cy="2163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4" name="Google Shape;824;p110"/>
          <p:cNvCxnSpPr>
            <a:endCxn id="804" idx="2"/>
          </p:cNvCxnSpPr>
          <p:nvPr/>
        </p:nvCxnSpPr>
        <p:spPr>
          <a:xfrm>
            <a:off x="868304" y="1329675"/>
            <a:ext cx="2451900" cy="25551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11"/>
          <p:cNvSpPr txBox="1"/>
          <p:nvPr>
            <p:ph type="title"/>
          </p:nvPr>
        </p:nvSpPr>
        <p:spPr>
          <a:xfrm>
            <a:off x="311700" y="80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Over-fitting</a:t>
            </a:r>
            <a:endParaRPr/>
          </a:p>
        </p:txBody>
      </p:sp>
      <p:pic>
        <p:nvPicPr>
          <p:cNvPr id="830" name="Google Shape;830;p111"/>
          <p:cNvPicPr preferRelativeResize="0"/>
          <p:nvPr/>
        </p:nvPicPr>
        <p:blipFill>
          <a:blip r:embed="rId3">
            <a:alphaModFix/>
          </a:blip>
          <a:stretch>
            <a:fillRect/>
          </a:stretch>
        </p:blipFill>
        <p:spPr>
          <a:xfrm>
            <a:off x="2352675" y="814713"/>
            <a:ext cx="4438650" cy="421957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Tackling Overfitting is </a:t>
            </a:r>
            <a:endParaRPr/>
          </a:p>
        </p:txBody>
      </p:sp>
      <p:sp>
        <p:nvSpPr>
          <p:cNvPr id="836" name="Google Shape;836;p11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GB" sz="1600">
                <a:highlight>
                  <a:srgbClr val="FFFFFF"/>
                </a:highlight>
              </a:rPr>
              <a:t>1. Hold-out</a:t>
            </a:r>
            <a:endParaRPr sz="1600">
              <a:highlight>
                <a:srgbClr val="FFFFFF"/>
              </a:highlight>
            </a:endParaRPr>
          </a:p>
          <a:p>
            <a:pPr indent="0" lvl="0" marL="0" rtl="0" algn="l">
              <a:spcBef>
                <a:spcPts val="1200"/>
              </a:spcBef>
              <a:spcAft>
                <a:spcPts val="0"/>
              </a:spcAft>
              <a:buClr>
                <a:schemeClr val="dk1"/>
              </a:buClr>
              <a:buSzPts val="1100"/>
              <a:buFont typeface="Arial"/>
              <a:buNone/>
            </a:pPr>
            <a:r>
              <a:rPr lang="en-GB" sz="1600">
                <a:highlight>
                  <a:srgbClr val="FFFFFF"/>
                </a:highlight>
              </a:rPr>
              <a:t>2. Cross-validation</a:t>
            </a:r>
            <a:endParaRPr sz="1600">
              <a:highlight>
                <a:srgbClr val="FFFFFF"/>
              </a:highlight>
            </a:endParaRPr>
          </a:p>
          <a:p>
            <a:pPr indent="0" lvl="0" marL="0" rtl="0" algn="l">
              <a:spcBef>
                <a:spcPts val="1200"/>
              </a:spcBef>
              <a:spcAft>
                <a:spcPts val="0"/>
              </a:spcAft>
              <a:buClr>
                <a:schemeClr val="dk1"/>
              </a:buClr>
              <a:buSzPts val="1100"/>
              <a:buFont typeface="Arial"/>
              <a:buNone/>
            </a:pPr>
            <a:r>
              <a:rPr lang="en-GB" sz="1600">
                <a:highlight>
                  <a:srgbClr val="FFFFFF"/>
                </a:highlight>
              </a:rPr>
              <a:t>3. Data augmentation</a:t>
            </a:r>
            <a:endParaRPr sz="1600">
              <a:highlight>
                <a:srgbClr val="FFFFFF"/>
              </a:highlight>
            </a:endParaRPr>
          </a:p>
          <a:p>
            <a:pPr indent="0" lvl="0" marL="0" rtl="0" algn="l">
              <a:spcBef>
                <a:spcPts val="1200"/>
              </a:spcBef>
              <a:spcAft>
                <a:spcPts val="0"/>
              </a:spcAft>
              <a:buClr>
                <a:schemeClr val="dk1"/>
              </a:buClr>
              <a:buSzPts val="1100"/>
              <a:buFont typeface="Arial"/>
              <a:buNone/>
            </a:pPr>
            <a:r>
              <a:rPr lang="en-GB" sz="1600">
                <a:highlight>
                  <a:srgbClr val="FFFFFF"/>
                </a:highlight>
              </a:rPr>
              <a:t>4. Feature selection</a:t>
            </a:r>
            <a:endParaRPr sz="1600">
              <a:highlight>
                <a:srgbClr val="FFFFFF"/>
              </a:highlight>
            </a:endParaRPr>
          </a:p>
          <a:p>
            <a:pPr indent="0" lvl="0" marL="0" rtl="0" algn="l">
              <a:spcBef>
                <a:spcPts val="1200"/>
              </a:spcBef>
              <a:spcAft>
                <a:spcPts val="0"/>
              </a:spcAft>
              <a:buClr>
                <a:schemeClr val="dk1"/>
              </a:buClr>
              <a:buSzPts val="1100"/>
              <a:buFont typeface="Arial"/>
              <a:buNone/>
            </a:pPr>
            <a:r>
              <a:rPr lang="en-GB" sz="1600">
                <a:highlight>
                  <a:srgbClr val="FFFFFF"/>
                </a:highlight>
              </a:rPr>
              <a:t>5. L1 / L2 regularization</a:t>
            </a:r>
            <a:endParaRPr sz="1600">
              <a:highlight>
                <a:srgbClr val="FFFFFF"/>
              </a:highlight>
            </a:endParaRPr>
          </a:p>
          <a:p>
            <a:pPr indent="0" lvl="0" marL="0" rtl="0" algn="l">
              <a:spcBef>
                <a:spcPts val="1200"/>
              </a:spcBef>
              <a:spcAft>
                <a:spcPts val="0"/>
              </a:spcAft>
              <a:buClr>
                <a:schemeClr val="dk1"/>
              </a:buClr>
              <a:buSzPts val="1100"/>
              <a:buFont typeface="Arial"/>
              <a:buNone/>
            </a:pPr>
            <a:r>
              <a:rPr lang="en-GB" sz="1600">
                <a:highlight>
                  <a:srgbClr val="FFFFFF"/>
                </a:highlight>
              </a:rPr>
              <a:t>6. Remove layers / number of units per layer</a:t>
            </a:r>
            <a:endParaRPr sz="1600">
              <a:highlight>
                <a:srgbClr val="FFFFFF"/>
              </a:highlight>
            </a:endParaRPr>
          </a:p>
          <a:p>
            <a:pPr indent="0" lvl="0" marL="0" rtl="0" algn="l">
              <a:spcBef>
                <a:spcPts val="1200"/>
              </a:spcBef>
              <a:spcAft>
                <a:spcPts val="0"/>
              </a:spcAft>
              <a:buClr>
                <a:schemeClr val="dk1"/>
              </a:buClr>
              <a:buSzPts val="1100"/>
              <a:buFont typeface="Arial"/>
              <a:buNone/>
            </a:pPr>
            <a:r>
              <a:rPr lang="en-GB" sz="1600">
                <a:highlight>
                  <a:srgbClr val="FFFFFF"/>
                </a:highlight>
              </a:rPr>
              <a:t>7. Dropout</a:t>
            </a:r>
            <a:endParaRPr sz="1600">
              <a:highlight>
                <a:srgbClr val="FFFFFF"/>
              </a:highlight>
            </a:endParaRPr>
          </a:p>
          <a:p>
            <a:pPr indent="0" lvl="0" marL="0" rtl="0" algn="l">
              <a:spcBef>
                <a:spcPts val="1200"/>
              </a:spcBef>
              <a:spcAft>
                <a:spcPts val="1200"/>
              </a:spcAft>
              <a:buNone/>
            </a:pPr>
            <a:r>
              <a:rPr lang="en-GB" sz="1600">
                <a:highlight>
                  <a:srgbClr val="FFFFFF"/>
                </a:highlight>
              </a:rPr>
              <a:t>8. Early stopping</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42" name="Google Shape;842;p1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43" name="Google Shape;843;p113"/>
          <p:cNvPicPr preferRelativeResize="0"/>
          <p:nvPr/>
        </p:nvPicPr>
        <p:blipFill>
          <a:blip r:embed="rId3">
            <a:alphaModFix/>
          </a:blip>
          <a:stretch>
            <a:fillRect/>
          </a:stretch>
        </p:blipFill>
        <p:spPr>
          <a:xfrm>
            <a:off x="0" y="294509"/>
            <a:ext cx="9143999" cy="455448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t>
            </a:r>
            <a:r>
              <a:rPr lang="en-GB"/>
              <a:t>Augmentation</a:t>
            </a:r>
            <a:endParaRPr/>
          </a:p>
        </p:txBody>
      </p:sp>
      <p:sp>
        <p:nvSpPr>
          <p:cNvPr id="849" name="Google Shape;849;p1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Just create some fake data as much as possible from the data itself.</a:t>
            </a:r>
            <a:endParaRPr/>
          </a:p>
        </p:txBody>
      </p:sp>
      <p:pic>
        <p:nvPicPr>
          <p:cNvPr id="850" name="Google Shape;850;p114"/>
          <p:cNvPicPr preferRelativeResize="0"/>
          <p:nvPr/>
        </p:nvPicPr>
        <p:blipFill>
          <a:blip r:embed="rId3">
            <a:alphaModFix/>
          </a:blip>
          <a:stretch>
            <a:fillRect/>
          </a:stretch>
        </p:blipFill>
        <p:spPr>
          <a:xfrm>
            <a:off x="2286000" y="1898750"/>
            <a:ext cx="4572000" cy="257175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id="855" name="Google Shape;855;p115"/>
          <p:cNvPicPr preferRelativeResize="0"/>
          <p:nvPr/>
        </p:nvPicPr>
        <p:blipFill>
          <a:blip r:embed="rId3">
            <a:alphaModFix/>
          </a:blip>
          <a:stretch>
            <a:fillRect/>
          </a:stretch>
        </p:blipFill>
        <p:spPr>
          <a:xfrm>
            <a:off x="1143000" y="0"/>
            <a:ext cx="6858000" cy="51435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Early </a:t>
            </a:r>
            <a:r>
              <a:rPr lang="en-GB"/>
              <a:t>Stopping</a:t>
            </a:r>
            <a:r>
              <a:rPr lang="en-GB"/>
              <a:t> </a:t>
            </a:r>
            <a:endParaRPr/>
          </a:p>
        </p:txBody>
      </p:sp>
      <p:sp>
        <p:nvSpPr>
          <p:cNvPr id="861" name="Google Shape;861;p1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u="sng">
                <a:solidFill>
                  <a:schemeClr val="hlink"/>
                </a:solidFill>
                <a:hlinkClick r:id="rId3"/>
              </a:rPr>
              <a:t>Use Early Stopping to Halt the Training of Neural Networks At the Right Time (machinelearningmastery.com)</a:t>
            </a:r>
            <a:endParaRPr/>
          </a:p>
        </p:txBody>
      </p:sp>
      <p:pic>
        <p:nvPicPr>
          <p:cNvPr id="862" name="Google Shape;862;p116"/>
          <p:cNvPicPr preferRelativeResize="0"/>
          <p:nvPr/>
        </p:nvPicPr>
        <p:blipFill>
          <a:blip r:embed="rId4">
            <a:alphaModFix/>
          </a:blip>
          <a:stretch>
            <a:fillRect/>
          </a:stretch>
        </p:blipFill>
        <p:spPr>
          <a:xfrm>
            <a:off x="2938450" y="2225725"/>
            <a:ext cx="3267075" cy="23431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When do you need to do this?</a:t>
            </a:r>
            <a:endParaRPr/>
          </a:p>
        </p:txBody>
      </p:sp>
      <p:sp>
        <p:nvSpPr>
          <p:cNvPr id="868" name="Google Shape;868;p1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Training</a:t>
            </a:r>
            <a:r>
              <a:rPr lang="en-GB"/>
              <a:t> error decreases steadily but the validation error increases after a certain point.</a:t>
            </a:r>
            <a:endParaRPr/>
          </a:p>
        </p:txBody>
      </p:sp>
      <p:pic>
        <p:nvPicPr>
          <p:cNvPr id="869" name="Google Shape;869;p117"/>
          <p:cNvPicPr preferRelativeResize="0"/>
          <p:nvPr/>
        </p:nvPicPr>
        <p:blipFill>
          <a:blip r:embed="rId3">
            <a:alphaModFix/>
          </a:blip>
          <a:stretch>
            <a:fillRect/>
          </a:stretch>
        </p:blipFill>
        <p:spPr>
          <a:xfrm>
            <a:off x="931017" y="0"/>
            <a:ext cx="7281965" cy="5143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Neural Network are in plenty</a:t>
            </a:r>
            <a:endParaRPr/>
          </a:p>
        </p:txBody>
      </p:sp>
      <p:sp>
        <p:nvSpPr>
          <p:cNvPr id="875" name="Google Shape;875;p1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So go the sources that I am saying in this stream.</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 we talked a lot about the models</a:t>
            </a:r>
            <a:endParaRPr/>
          </a:p>
        </p:txBody>
      </p:sp>
      <p:sp>
        <p:nvSpPr>
          <p:cNvPr id="881" name="Google Shape;881;p1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So now </a:t>
            </a:r>
            <a:r>
              <a:rPr lang="en-GB"/>
              <a:t>let's</a:t>
            </a:r>
            <a:r>
              <a:rPr lang="en-GB"/>
              <a:t> get to know how we can build a model.</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Gathering Data</a:t>
            </a:r>
            <a:endParaRPr/>
          </a:p>
        </p:txBody>
      </p:sp>
      <p:sp>
        <p:nvSpPr>
          <p:cNvPr id="887" name="Google Shape;887;p1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Picking</a:t>
            </a:r>
            <a:r>
              <a:rPr lang="en-GB"/>
              <a:t> the </a:t>
            </a:r>
            <a:r>
              <a:rPr lang="en-GB"/>
              <a:t>right</a:t>
            </a:r>
            <a:r>
              <a:rPr lang="en-GB"/>
              <a:t> data is very important,Good way to start is you need to make </a:t>
            </a:r>
            <a:r>
              <a:rPr lang="en-GB"/>
              <a:t>assumption</a:t>
            </a:r>
            <a:r>
              <a:rPr lang="en-GB"/>
              <a:t> about the </a:t>
            </a:r>
            <a:r>
              <a:rPr lang="en-GB"/>
              <a:t>data</a:t>
            </a:r>
            <a:r>
              <a:rPr lang="en-GB"/>
              <a:t> that you need.</a:t>
            </a:r>
            <a:endParaRPr/>
          </a:p>
          <a:p>
            <a:pPr indent="0" lvl="0" marL="0" rtl="0" algn="l">
              <a:spcBef>
                <a:spcPts val="1200"/>
              </a:spcBef>
              <a:spcAft>
                <a:spcPts val="1200"/>
              </a:spcAft>
              <a:buNone/>
            </a:pPr>
            <a:r>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Size of the data set also matters</a:t>
            </a:r>
            <a:endParaRPr/>
          </a:p>
        </p:txBody>
      </p:sp>
      <p:sp>
        <p:nvSpPr>
          <p:cNvPr id="893" name="Google Shape;893;p1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No one size fits all</a:t>
            </a:r>
            <a:endParaRPr/>
          </a:p>
          <a:p>
            <a:pPr indent="0" lvl="0" marL="0" rtl="0" algn="l">
              <a:spcBef>
                <a:spcPts val="1200"/>
              </a:spcBef>
              <a:spcAft>
                <a:spcPts val="1200"/>
              </a:spcAft>
              <a:buNone/>
            </a:pPr>
            <a:r>
              <a:rPr lang="en-GB"/>
              <a:t>Amount of the data needed = 10 times the model </a:t>
            </a:r>
            <a:r>
              <a:rPr lang="en-GB"/>
              <a:t>parameters</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Quality</a:t>
            </a:r>
            <a:r>
              <a:rPr lang="en-GB"/>
              <a:t> of the data also matters</a:t>
            </a:r>
            <a:endParaRPr/>
          </a:p>
        </p:txBody>
      </p:sp>
      <p:sp>
        <p:nvSpPr>
          <p:cNvPr id="899" name="Google Shape;899;p1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Data has to be more Accurate </a:t>
            </a:r>
            <a:r>
              <a:rPr lang="en-GB"/>
              <a:t>and</a:t>
            </a:r>
            <a:r>
              <a:rPr lang="en-GB"/>
              <a:t> </a:t>
            </a:r>
            <a:r>
              <a:rPr lang="en-GB"/>
              <a:t>Reliable</a:t>
            </a:r>
            <a:r>
              <a:rPr lang="en-GB"/>
              <a:t> with no </a:t>
            </a:r>
            <a:r>
              <a:rPr lang="en-GB"/>
              <a:t>Adversaries</a:t>
            </a:r>
            <a:r>
              <a:rPr lang="en-GB"/>
              <a:t>.</a:t>
            </a:r>
            <a:endParaRPr/>
          </a:p>
          <a:p>
            <a:pPr indent="0" lvl="0" marL="0" rtl="0" algn="l">
              <a:spcBef>
                <a:spcPts val="1200"/>
              </a:spcBef>
              <a:spcAft>
                <a:spcPts val="0"/>
              </a:spcAft>
              <a:buNone/>
            </a:pPr>
            <a:r>
              <a:rPr lang="en-GB"/>
              <a:t>Noiseless Features.</a:t>
            </a:r>
            <a:endParaRPr/>
          </a:p>
          <a:p>
            <a:pPr indent="0" lvl="0" marL="0" rtl="0" algn="l">
              <a:spcBef>
                <a:spcPts val="1200"/>
              </a:spcBef>
              <a:spcAft>
                <a:spcPts val="1200"/>
              </a:spcAft>
              <a:buNone/>
            </a:pPr>
            <a:r>
              <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Some Dataset </a:t>
            </a:r>
            <a:r>
              <a:rPr lang="en-GB"/>
              <a:t>Repositories</a:t>
            </a:r>
            <a:r>
              <a:rPr lang="en-GB"/>
              <a:t> are</a:t>
            </a:r>
            <a:endParaRPr/>
          </a:p>
        </p:txBody>
      </p:sp>
      <p:sp>
        <p:nvSpPr>
          <p:cNvPr id="905" name="Google Shape;905;p1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 will list out here.</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Pre- Processing dataset</a:t>
            </a:r>
            <a:endParaRPr/>
          </a:p>
        </p:txBody>
      </p:sp>
      <p:sp>
        <p:nvSpPr>
          <p:cNvPr id="911" name="Google Shape;911;p1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Split</a:t>
            </a:r>
            <a:r>
              <a:rPr lang="en-GB"/>
              <a:t> </a:t>
            </a:r>
            <a:r>
              <a:rPr lang="en-GB"/>
              <a:t>the</a:t>
            </a:r>
            <a:r>
              <a:rPr lang="en-GB"/>
              <a:t> dataset </a:t>
            </a:r>
            <a:r>
              <a:rPr lang="en-GB"/>
              <a:t>into the</a:t>
            </a:r>
            <a:r>
              <a:rPr lang="en-GB"/>
              <a:t> subset.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Training data </a:t>
            </a:r>
            <a:r>
              <a:rPr lang="en-GB"/>
              <a:t>set</a:t>
            </a:r>
            <a:r>
              <a:rPr lang="en-GB"/>
              <a:t> </a:t>
            </a:r>
            <a:endParaRPr/>
          </a:p>
          <a:p>
            <a:pPr indent="0" lvl="0" marL="0" rtl="0" algn="l">
              <a:spcBef>
                <a:spcPts val="1200"/>
              </a:spcBef>
              <a:spcAft>
                <a:spcPts val="0"/>
              </a:spcAft>
              <a:buNone/>
            </a:pPr>
            <a:r>
              <a:rPr lang="en-GB"/>
              <a:t>Testing Data Set</a:t>
            </a:r>
            <a:endParaRPr/>
          </a:p>
          <a:p>
            <a:pPr indent="0" lvl="0" marL="0" rtl="0" algn="l">
              <a:spcBef>
                <a:spcPts val="1200"/>
              </a:spcBef>
              <a:spcAft>
                <a:spcPts val="0"/>
              </a:spcAft>
              <a:buNone/>
            </a:pPr>
            <a:r>
              <a:rPr lang="en-GB"/>
              <a:t>Validation Data Set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We can randomly split the dataset</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This process depends on </a:t>
            </a:r>
            <a:endParaRPr/>
          </a:p>
        </p:txBody>
      </p:sp>
      <p:sp>
        <p:nvSpPr>
          <p:cNvPr id="917" name="Google Shape;917;p1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Number of the samples </a:t>
            </a:r>
            <a:r>
              <a:rPr lang="en-GB"/>
              <a:t>in</a:t>
            </a:r>
            <a:r>
              <a:rPr lang="en-GB"/>
              <a:t> eh data</a:t>
            </a:r>
            <a:endParaRPr/>
          </a:p>
          <a:p>
            <a:pPr indent="-342900" lvl="0" marL="457200" rtl="0" algn="l">
              <a:spcBef>
                <a:spcPts val="0"/>
              </a:spcBef>
              <a:spcAft>
                <a:spcPts val="0"/>
              </a:spcAft>
              <a:buSzPts val="1800"/>
              <a:buChar char="●"/>
            </a:pPr>
            <a:r>
              <a:rPr lang="en-GB"/>
              <a:t>Model </a:t>
            </a:r>
            <a:r>
              <a:rPr lang="en-GB"/>
              <a:t>Being</a:t>
            </a:r>
            <a:r>
              <a:rPr lang="en-GB"/>
              <a:t> Trained</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Simple rule of thumb</a:t>
            </a:r>
            <a:endParaRPr/>
          </a:p>
        </p:txBody>
      </p:sp>
      <p:sp>
        <p:nvSpPr>
          <p:cNvPr id="923" name="Google Shape;923;p1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Few Hyperparameters means small validation set</a:t>
            </a:r>
            <a:endParaRPr/>
          </a:p>
          <a:p>
            <a:pPr indent="-342900" lvl="0" marL="457200" rtl="0" algn="l">
              <a:spcBef>
                <a:spcPts val="0"/>
              </a:spcBef>
              <a:spcAft>
                <a:spcPts val="0"/>
              </a:spcAft>
              <a:buSzPts val="1800"/>
              <a:buChar char="●"/>
            </a:pPr>
            <a:r>
              <a:rPr lang="en-GB"/>
              <a:t>Many </a:t>
            </a:r>
            <a:r>
              <a:rPr lang="en-GB"/>
              <a:t>hyperparameters</a:t>
            </a:r>
            <a:r>
              <a:rPr lang="en-GB"/>
              <a:t> means large validation set</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ratio in which you </a:t>
            </a:r>
            <a:r>
              <a:rPr lang="en-GB"/>
              <a:t>split</a:t>
            </a:r>
            <a:r>
              <a:rPr lang="en-GB"/>
              <a:t> the dataset is </a:t>
            </a:r>
            <a:r>
              <a:rPr lang="en-GB"/>
              <a:t>specific</a:t>
            </a:r>
            <a:r>
              <a:rPr lang="en-GB"/>
              <a:t> to your</a:t>
            </a:r>
            <a:endParaRPr/>
          </a:p>
        </p:txBody>
      </p:sp>
      <p:sp>
        <p:nvSpPr>
          <p:cNvPr id="929" name="Google Shape;929;p1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GB" sz="14900"/>
              <a:t>Use Case</a:t>
            </a:r>
            <a:endParaRPr sz="14900"/>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28"/>
          <p:cNvSpPr/>
          <p:nvPr/>
        </p:nvSpPr>
        <p:spPr>
          <a:xfrm>
            <a:off x="416750" y="147100"/>
            <a:ext cx="8310600" cy="10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900"/>
              <a:t>Dataset</a:t>
            </a:r>
            <a:endParaRPr sz="3900"/>
          </a:p>
        </p:txBody>
      </p:sp>
      <p:sp>
        <p:nvSpPr>
          <p:cNvPr id="935" name="Google Shape;935;p128"/>
          <p:cNvSpPr/>
          <p:nvPr/>
        </p:nvSpPr>
        <p:spPr>
          <a:xfrm>
            <a:off x="416725" y="1152400"/>
            <a:ext cx="4155300" cy="1005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900">
                <a:solidFill>
                  <a:schemeClr val="lt1"/>
                </a:solidFill>
              </a:rPr>
              <a:t>Train</a:t>
            </a:r>
            <a:endParaRPr sz="3900">
              <a:solidFill>
                <a:schemeClr val="lt1"/>
              </a:solidFill>
            </a:endParaRPr>
          </a:p>
        </p:txBody>
      </p:sp>
      <p:sp>
        <p:nvSpPr>
          <p:cNvPr id="936" name="Google Shape;936;p128"/>
          <p:cNvSpPr/>
          <p:nvPr/>
        </p:nvSpPr>
        <p:spPr>
          <a:xfrm>
            <a:off x="422888" y="2299375"/>
            <a:ext cx="4155300" cy="1005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900">
                <a:solidFill>
                  <a:schemeClr val="lt1"/>
                </a:solidFill>
              </a:rPr>
              <a:t>Train</a:t>
            </a:r>
            <a:endParaRPr sz="3900">
              <a:solidFill>
                <a:schemeClr val="lt1"/>
              </a:solidFill>
            </a:endParaRPr>
          </a:p>
        </p:txBody>
      </p:sp>
      <p:sp>
        <p:nvSpPr>
          <p:cNvPr id="937" name="Google Shape;937;p128"/>
          <p:cNvSpPr/>
          <p:nvPr/>
        </p:nvSpPr>
        <p:spPr>
          <a:xfrm>
            <a:off x="4571975" y="1152400"/>
            <a:ext cx="4155300" cy="1005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900">
                <a:solidFill>
                  <a:schemeClr val="lt1"/>
                </a:solidFill>
              </a:rPr>
              <a:t>Test</a:t>
            </a:r>
            <a:endParaRPr sz="3900">
              <a:solidFill>
                <a:schemeClr val="lt1"/>
              </a:solidFill>
            </a:endParaRPr>
          </a:p>
        </p:txBody>
      </p:sp>
      <p:sp>
        <p:nvSpPr>
          <p:cNvPr id="938" name="Google Shape;938;p128"/>
          <p:cNvSpPr/>
          <p:nvPr/>
        </p:nvSpPr>
        <p:spPr>
          <a:xfrm>
            <a:off x="416750" y="3446350"/>
            <a:ext cx="8310600" cy="10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900"/>
              <a:t>Folds</a:t>
            </a:r>
            <a:endParaRPr sz="3900"/>
          </a:p>
        </p:txBody>
      </p:sp>
      <p:sp>
        <p:nvSpPr>
          <p:cNvPr id="939" name="Google Shape;939;p128"/>
          <p:cNvSpPr/>
          <p:nvPr/>
        </p:nvSpPr>
        <p:spPr>
          <a:xfrm>
            <a:off x="4578113" y="2299375"/>
            <a:ext cx="2071500" cy="1005300"/>
          </a:xfrm>
          <a:prstGeom prst="rect">
            <a:avLst/>
          </a:prstGeom>
          <a:solidFill>
            <a:srgbClr val="00FF00"/>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900">
                <a:solidFill>
                  <a:schemeClr val="lt1"/>
                </a:solidFill>
              </a:rPr>
              <a:t>Test</a:t>
            </a:r>
            <a:endParaRPr sz="3900">
              <a:solidFill>
                <a:schemeClr val="lt1"/>
              </a:solidFill>
            </a:endParaRPr>
          </a:p>
        </p:txBody>
      </p:sp>
      <p:sp>
        <p:nvSpPr>
          <p:cNvPr id="940" name="Google Shape;940;p128"/>
          <p:cNvSpPr/>
          <p:nvPr/>
        </p:nvSpPr>
        <p:spPr>
          <a:xfrm>
            <a:off x="6649625" y="2299375"/>
            <a:ext cx="2071500" cy="10053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100">
                <a:solidFill>
                  <a:schemeClr val="lt1"/>
                </a:solidFill>
              </a:rPr>
              <a:t>Validation</a:t>
            </a:r>
            <a:endParaRPr sz="3100">
              <a:solidFill>
                <a:schemeClr val="lt1"/>
              </a:solidFill>
            </a:endParaRPr>
          </a:p>
        </p:txBody>
      </p:sp>
      <p:cxnSp>
        <p:nvCxnSpPr>
          <p:cNvPr id="941" name="Google Shape;941;p128"/>
          <p:cNvCxnSpPr/>
          <p:nvPr/>
        </p:nvCxnSpPr>
        <p:spPr>
          <a:xfrm rot="10800000">
            <a:off x="1445350" y="3443250"/>
            <a:ext cx="31800" cy="1009500"/>
          </a:xfrm>
          <a:prstGeom prst="straightConnector1">
            <a:avLst/>
          </a:prstGeom>
          <a:noFill/>
          <a:ln cap="flat" cmpd="sng" w="9525">
            <a:solidFill>
              <a:schemeClr val="dk2"/>
            </a:solidFill>
            <a:prstDash val="solid"/>
            <a:round/>
            <a:headEnd len="med" w="med" type="none"/>
            <a:tailEnd len="med" w="med" type="none"/>
          </a:ln>
        </p:spPr>
      </p:cxnSp>
      <p:cxnSp>
        <p:nvCxnSpPr>
          <p:cNvPr id="942" name="Google Shape;942;p128"/>
          <p:cNvCxnSpPr/>
          <p:nvPr/>
        </p:nvCxnSpPr>
        <p:spPr>
          <a:xfrm rot="10800000">
            <a:off x="2617950" y="3446350"/>
            <a:ext cx="31800" cy="1009500"/>
          </a:xfrm>
          <a:prstGeom prst="straightConnector1">
            <a:avLst/>
          </a:prstGeom>
          <a:noFill/>
          <a:ln cap="flat" cmpd="sng" w="9525">
            <a:solidFill>
              <a:schemeClr val="dk2"/>
            </a:solidFill>
            <a:prstDash val="solid"/>
            <a:round/>
            <a:headEnd len="med" w="med" type="none"/>
            <a:tailEnd len="med" w="med" type="none"/>
          </a:ln>
        </p:spPr>
      </p:cxnSp>
      <p:cxnSp>
        <p:nvCxnSpPr>
          <p:cNvPr id="943" name="Google Shape;943;p128"/>
          <p:cNvCxnSpPr/>
          <p:nvPr/>
        </p:nvCxnSpPr>
        <p:spPr>
          <a:xfrm rot="10800000">
            <a:off x="3843675" y="3446350"/>
            <a:ext cx="31800" cy="10095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28"/>
          <p:cNvCxnSpPr/>
          <p:nvPr/>
        </p:nvCxnSpPr>
        <p:spPr>
          <a:xfrm rot="10800000">
            <a:off x="5313850" y="3446350"/>
            <a:ext cx="31800" cy="10095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28"/>
          <p:cNvCxnSpPr/>
          <p:nvPr/>
        </p:nvCxnSpPr>
        <p:spPr>
          <a:xfrm rot="10800000">
            <a:off x="6633725" y="3492500"/>
            <a:ext cx="31800" cy="10095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128"/>
          <p:cNvCxnSpPr/>
          <p:nvPr/>
        </p:nvCxnSpPr>
        <p:spPr>
          <a:xfrm rot="10800000">
            <a:off x="7669475" y="3446350"/>
            <a:ext cx="31800" cy="1009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pic>
        <p:nvPicPr>
          <p:cNvPr id="951" name="Google Shape;951;p129"/>
          <p:cNvPicPr preferRelativeResize="0"/>
          <p:nvPr/>
        </p:nvPicPr>
        <p:blipFill>
          <a:blip r:embed="rId3">
            <a:alphaModFix/>
          </a:blip>
          <a:stretch>
            <a:fillRect/>
          </a:stretch>
        </p:blipFill>
        <p:spPr>
          <a:xfrm>
            <a:off x="859115" y="0"/>
            <a:ext cx="7425772" cy="5143501"/>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Look for the missing data </a:t>
            </a:r>
            <a:endParaRPr/>
          </a:p>
        </p:txBody>
      </p:sp>
      <p:sp>
        <p:nvSpPr>
          <p:cNvPr id="957" name="Google Shape;957;p1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Nan or Null</a:t>
            </a:r>
            <a:endParaRPr/>
          </a:p>
          <a:p>
            <a:pPr indent="-342900" lvl="0" marL="457200" rtl="0" algn="l">
              <a:spcBef>
                <a:spcPts val="0"/>
              </a:spcBef>
              <a:spcAft>
                <a:spcPts val="0"/>
              </a:spcAft>
              <a:buSzPts val="1800"/>
              <a:buChar char="●"/>
            </a:pPr>
            <a:r>
              <a:rPr lang="en-GB"/>
              <a:t>Eliminated Features or the Missing Value</a:t>
            </a:r>
            <a:endParaRPr/>
          </a:p>
          <a:p>
            <a:pPr indent="-342900" lvl="0" marL="457200" rtl="0" algn="l">
              <a:spcBef>
                <a:spcPts val="0"/>
              </a:spcBef>
              <a:spcAft>
                <a:spcPts val="0"/>
              </a:spcAft>
              <a:buSzPts val="1800"/>
              <a:buChar char="●"/>
            </a:pPr>
            <a:r>
              <a:rPr lang="en-GB"/>
              <a:t>Impute the Missing data</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Sampling</a:t>
            </a:r>
            <a:endParaRPr/>
          </a:p>
        </p:txBody>
      </p:sp>
      <p:sp>
        <p:nvSpPr>
          <p:cNvPr id="963" name="Google Shape;963;p1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Use a sample of the dataset</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we need this</a:t>
            </a:r>
            <a:endParaRPr/>
          </a:p>
        </p:txBody>
      </p:sp>
      <p:sp>
        <p:nvSpPr>
          <p:cNvPr id="969" name="Google Shape;969;p1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Faster Convergence</a:t>
            </a:r>
            <a:endParaRPr/>
          </a:p>
          <a:p>
            <a:pPr indent="-342900" lvl="0" marL="457200" rtl="0" algn="l">
              <a:spcBef>
                <a:spcPts val="0"/>
              </a:spcBef>
              <a:spcAft>
                <a:spcPts val="0"/>
              </a:spcAft>
              <a:buSzPts val="1800"/>
              <a:buChar char="●"/>
            </a:pPr>
            <a:r>
              <a:rPr lang="en-GB"/>
              <a:t>Reduces</a:t>
            </a:r>
            <a:r>
              <a:rPr lang="en-GB"/>
              <a:t> the Disk Space</a:t>
            </a:r>
            <a:endParaRPr/>
          </a:p>
          <a:p>
            <a:pPr indent="0" lvl="0" marL="0" rtl="0" algn="l">
              <a:spcBef>
                <a:spcPts val="1200"/>
              </a:spcBef>
              <a:spcAft>
                <a:spcPts val="1200"/>
              </a:spcAft>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Preprocessing</a:t>
            </a:r>
            <a:r>
              <a:rPr lang="en-GB"/>
              <a:t> is Required </a:t>
            </a:r>
            <a:r>
              <a:rPr lang="en-GB"/>
              <a:t>for</a:t>
            </a:r>
            <a:r>
              <a:rPr lang="en-GB"/>
              <a:t> the FEature </a:t>
            </a:r>
            <a:r>
              <a:rPr lang="en-GB"/>
              <a:t>Scaling</a:t>
            </a:r>
            <a:endParaRPr/>
          </a:p>
        </p:txBody>
      </p:sp>
      <p:sp>
        <p:nvSpPr>
          <p:cNvPr id="975" name="Google Shape;975;p1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Crucial Step for the Model TRaining:</a:t>
            </a:r>
            <a:endParaRPr/>
          </a:p>
          <a:p>
            <a:pPr indent="-342900" lvl="0" marL="457200" rtl="0" algn="l">
              <a:spcBef>
                <a:spcPts val="0"/>
              </a:spcBef>
              <a:spcAft>
                <a:spcPts val="0"/>
              </a:spcAft>
              <a:buSzPts val="1800"/>
              <a:buChar char="●"/>
            </a:pPr>
            <a:r>
              <a:rPr lang="en-GB"/>
              <a:t>Normalization</a:t>
            </a:r>
            <a:endParaRPr/>
          </a:p>
          <a:p>
            <a:pPr indent="-342900" lvl="0" marL="457200" rtl="0" algn="l">
              <a:spcBef>
                <a:spcPts val="0"/>
              </a:spcBef>
              <a:spcAft>
                <a:spcPts val="0"/>
              </a:spcAft>
              <a:buSzPts val="1800"/>
              <a:buChar char="●"/>
            </a:pPr>
            <a:r>
              <a:rPr lang="en-GB"/>
              <a:t>Standardization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Then </a:t>
            </a:r>
            <a:r>
              <a:rPr lang="en-GB"/>
              <a:t>obviously train and Evaluate.</a:t>
            </a:r>
            <a:endParaRPr/>
          </a:p>
          <a:p>
            <a:pPr indent="0" lvl="0" marL="0" rtl="0" algn="l">
              <a:spcBef>
                <a:spcPts val="1200"/>
              </a:spcBef>
              <a:spcAft>
                <a:spcPts val="1200"/>
              </a:spcAft>
              <a:buNone/>
            </a:pPr>
            <a:r>
              <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Optimization</a:t>
            </a:r>
            <a:endParaRPr/>
          </a:p>
        </p:txBody>
      </p:sp>
      <p:sp>
        <p:nvSpPr>
          <p:cNvPr id="981" name="Google Shape;981;p1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Will be Continued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